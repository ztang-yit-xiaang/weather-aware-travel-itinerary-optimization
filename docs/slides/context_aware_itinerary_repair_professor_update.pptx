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  <a:ln w="38100">
            <a:solidFill>
              <a:srgbClr val="D8B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D8B657"/>
                </a:solidFill>
                <a:latin typeface="Arial"/>
              </a:defRPr>
            </a:pPr>
            <a:r>
              <a:t>UNIVERSITY OF MINNESOTA | Ju Research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9669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Context-Aware, Inspectable Itinerary Repair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0">
                <a:solidFill>
                  <a:srgbClr val="F6F4EB"/>
                </a:solidFill>
                <a:latin typeface="Arial"/>
              </a:defRPr>
            </a:pPr>
            <a:r>
              <a:t>Ownership-Aware Minimal Repair with Independent Certification under Travel Disruptions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931920"/>
            <a:ext cx="2743200" cy="36576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5486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6F4EB"/>
                </a:solidFill>
                <a:latin typeface="Arial"/>
              </a:defRPr>
            </a:pPr>
            <a:r>
              <a:t>Presenter: Yit Xiaang Ztang</a:t>
            </a:r>
            <a:br/>
            <a:r>
              <a:t>IE 5533 Project Status Review</a:t>
            </a:r>
            <a:br/>
            <a:r>
              <a:t>July 8,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9966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D8B657"/>
                </a:solidFill>
                <a:latin typeface="Arial"/>
              </a:defRPr>
            </a:pPr>
            <a:r>
              <a:t>Research Focus Pivot &amp; Phase G0-G5 Progress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7A0019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787878"/>
                </a:solidFill>
                <a:latin typeface="Arial"/>
              </a:defRPr>
            </a:pPr>
            <a:r>
              <a:t>One-Slide Executive Summary; repair_gap_review.md; current_problem_manifest.md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787878"/>
                </a:solidFill>
                <a:latin typeface="Arial"/>
              </a:defRPr>
            </a:pPr>
            <a:r>
              <a:t>Source: current_problem_manifest.md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7A001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7A0019"/>
                </a:solidFill>
                <a:latin typeface="Arial"/>
              </a:defRPr>
            </a:pPr>
            <a:r>
              <a:t>Core Thesis &amp;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11680"/>
            <a:ext cx="45720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Repair, Do Not Regenerate: Treating the accepted itinerary as a persistent, user-owned parent artifact rather than a blank slate.</a:t>
            </a:r>
          </a:p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Asymmetric Penalty Model: Distinguishes between locked, booked, preferred, and flexible elements, computing typed weighted change costs directly.</a:t>
            </a:r>
          </a:p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Methodological Core: We do not claim LLM or solver novelty in isolation; our novelty is the tightly coupled architecture of progressive search, lexicographic constraints, independent validation, and grounded explanations.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1">
                <a:solidFill>
                  <a:srgbClr val="7A0019"/>
                </a:solidFill>
                <a:latin typeface="Arial"/>
              </a:defRPr>
            </a:pPr>
            <a:r>
              <a:t>5 Pillars of the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7A0019"/>
                </a:solidFill>
                <a:latin typeface="Arial"/>
              </a:defRPr>
            </a:pPr>
            <a:r>
              <a:t>1. Parent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67712"/>
            <a:ext cx="4663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Persistent, version-controlled immutable plan lineage.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3464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7A0019"/>
                </a:solidFill>
                <a:latin typeface="Arial"/>
              </a:defRPr>
            </a:pPr>
            <a:r>
              <a:t>2. Ownership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90672"/>
            <a:ext cx="4663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Typed user commitments (locked, booked, flexible) as solver constraints.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7A0019"/>
                </a:solidFill>
                <a:latin typeface="Arial"/>
              </a:defRPr>
            </a:pPr>
            <a:r>
              <a:t>3. PlanDiff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13632"/>
            <a:ext cx="4663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Strict asymmetric edit cost matrix calculated across move, delete, and shift operations.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8056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7A0019"/>
                </a:solidFill>
                <a:latin typeface="Arial"/>
              </a:defRPr>
            </a:pPr>
            <a:r>
              <a:t>4. Independent Certificate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36592"/>
            <a:ext cx="4663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Zero-trust verification validating plans against physical routes and databases.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0352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7A0019"/>
                </a:solidFill>
                <a:latin typeface="Arial"/>
              </a:defRPr>
            </a:pPr>
            <a:r>
              <a:t>5. Grounded Explanations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559552"/>
            <a:ext cx="4663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Counterfactual rationales constructed from progressive solver search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7A0019"/>
                </a:solidFill>
                <a:latin typeface="Arial"/>
              </a:defRPr>
            </a:pPr>
            <a:r>
              <a:t>Pivot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787878"/>
                </a:solidFill>
                <a:latin typeface="Arial"/>
              </a:defRPr>
            </a:pPr>
            <a:r>
              <a:t>Research Direction and Problem Shift; research_stabilization_and_publication_plan.md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787878"/>
                </a:solidFill>
                <a:latin typeface="Arial"/>
              </a:defRPr>
            </a:pPr>
            <a:r>
              <a:t>Source: research_stabilization_and_publication_plan.md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7A001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11480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5120640" cy="109728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2C2C2C"/>
                </a:solidFill>
                <a:latin typeface="Arial"/>
              </a:defRPr>
            </a:pPr>
            <a:r>
              <a:t>FROM: Weather-Aware Itinerary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03120"/>
            <a:ext cx="4572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Generate itineraries from scratch based on raw user preferences.</a:t>
            </a:r>
          </a:p>
          <a:p>
            <a:pPr>
              <a:spcAft>
                <a:spcPts val="10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Treat weather merely as a contextual POI utility modifier.</a:t>
            </a:r>
          </a:p>
          <a:p>
            <a:pPr>
              <a:spcAft>
                <a:spcPts val="10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Weak Novelty Claim: Tourist trip design optimization (TTDP/OP) is mature; hard to demonstrate publication-grade novelty.</a:t>
            </a:r>
          </a:p>
          <a:p>
            <a:pPr>
              <a:spcAft>
                <a:spcPts val="10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Hard to Explain: Since the original plan vanishes, explanations lack a relative base anchor.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5120640" cy="411480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120640" cy="109728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4592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7A0019"/>
                </a:solidFill>
                <a:latin typeface="Arial"/>
              </a:defRPr>
            </a:pPr>
            <a:r>
              <a:t>TO: Context-Aware Repair After Disruption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45720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Start from an already accepted, user-owned parent itinerary.</a:t>
            </a:r>
          </a:p>
          <a:p>
            <a:pPr>
              <a:spcAft>
                <a:spcPts val="10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Formulate disruptions (weather, closures) as triggers for minimal local repair.</a:t>
            </a:r>
          </a:p>
          <a:p>
            <a:pPr>
              <a:spcAft>
                <a:spcPts val="10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Preserve ownership commitments first using lexicographic optimization.</a:t>
            </a:r>
          </a:p>
          <a:p>
            <a:pPr>
              <a:spcAft>
                <a:spcPts val="10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Measure parent-child schedule edits directly as a clear outcome metric.</a:t>
            </a:r>
          </a:p>
          <a:p>
            <a:pPr>
              <a:spcAft>
                <a:spcPts val="10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Strong Novelty Claim: Highly scoped, defensible, and easier to validate.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23560"/>
            <a:ext cx="10698480" cy="731520"/>
          </a:xfrm>
          <a:prstGeom prst="round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87568"/>
            <a:ext cx="101498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50" b="0">
                <a:solidFill>
                  <a:srgbClr val="FFFFFF"/>
                </a:solidFill>
                <a:latin typeface="Arial"/>
              </a:defRPr>
            </a:pPr>
            <a:r>
              <a:t>Publishability Impact: Focusing on parent-child repair establishes a narrower, more rigorous unit of evidence. Preservation rates, feasibility certs, and diff costs become mathematically measurable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7A0019"/>
                </a:solidFill>
                <a:latin typeface="Arial"/>
              </a:defRPr>
            </a:pPr>
            <a:r>
              <a:t>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787878"/>
                </a:solidFill>
                <a:latin typeface="Arial"/>
              </a:defRPr>
            </a:pPr>
            <a:r>
              <a:t>Literature Landscape Matrix; literature_matrix_repair_gap.md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787878"/>
                </a:solidFill>
                <a:latin typeface="Arial"/>
              </a:defRPr>
            </a:pPr>
            <a:r>
              <a:t>Source: literature_matrix_repair_gap.md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7A0019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2C2C2C"/>
                </a:solidFill>
                <a:latin typeface="Arial"/>
              </a:defRPr>
            </a:pPr>
            <a:r>
              <a:t>Legend: Dark Red = Covered | Gold Highlight = Proposed Method | Light Card = Muted / Partial / Missing in literature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415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Literature Stream</a:t>
                      </a:r>
                    </a:p>
                  </a:txBody>
                  <a:tcPr anchor="ctr"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Ownership Labels</a:t>
                      </a:r>
                    </a:p>
                  </a:txBody>
                  <a:tcPr anchor="ctr"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Parent-Child Diff</a:t>
                      </a:r>
                    </a:p>
                  </a:txBody>
                  <a:tcPr anchor="ctr"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Progressive Neighborhoods</a:t>
                      </a:r>
                    </a:p>
                  </a:txBody>
                  <a:tcPr anchor="ctr"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Lexicographic Objectives</a:t>
                      </a:r>
                    </a:p>
                  </a:txBody>
                  <a:tcPr anchor="ctr"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Independent Cert</a:t>
                      </a:r>
                    </a:p>
                  </a:txBody>
                  <a:tcPr anchor="ctr"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Explanation Grounding</a:t>
                      </a:r>
                    </a:p>
                  </a:txBody>
                  <a:tcPr anchor="ctr">
                    <a:solidFill>
                      <a:srgbClr val="7A001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OP / TTDP Optimization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Weak (local search)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Dynamic &amp; RL Routing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 (reoptimizes all)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LLM Travel Planning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Weak (user prompts)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Weak (heuristics)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Partial (tool call)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Weak (text trace)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Itinerary Modification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Atomic (ADD/DEL)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Metric check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Disruption Benchmarks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Traveler tolerance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Divergence metrics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LLM Judge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Explainable Optimization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Model checks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Strong (solver proof)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7A0019"/>
                          </a:solidFill>
                          <a:latin typeface="Arial"/>
                        </a:defRPr>
                      </a:pPr>
                      <a:r>
                        <a:t>Proposed Method</a:t>
                      </a:r>
                    </a:p>
                  </a:txBody>
                  <a:tcPr anchor="ctr">
                    <a:solidFill>
                      <a:srgbClr val="F5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A0019"/>
                          </a:solidFill>
                          <a:latin typeface="Arial"/>
                        </a:defRPr>
                      </a:pPr>
                      <a:r>
                        <a:t>Yes (Locked/Booked)</a:t>
                      </a:r>
                    </a:p>
                  </a:txBody>
                  <a:tcPr anchor="ctr">
                    <a:solidFill>
                      <a:srgbClr val="F5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A0019"/>
                          </a:solidFill>
                          <a:latin typeface="Arial"/>
                        </a:defRPr>
                      </a:pPr>
                      <a:r>
                        <a:t>Yes (Typed PlanDiff)</a:t>
                      </a:r>
                    </a:p>
                  </a:txBody>
                  <a:tcPr anchor="ctr">
                    <a:solidFill>
                      <a:srgbClr val="F5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A0019"/>
                          </a:solidFill>
                          <a:latin typeface="Arial"/>
                        </a:defRPr>
                      </a:pPr>
                      <a:r>
                        <a:t>Yes (Expanding Radii)</a:t>
                      </a:r>
                    </a:p>
                  </a:txBody>
                  <a:tcPr anchor="ctr">
                    <a:solidFill>
                      <a:srgbClr val="F5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A0019"/>
                          </a:solidFill>
                          <a:latin typeface="Arial"/>
                        </a:defRPr>
                      </a:pPr>
                      <a:r>
                        <a:t>Yes (Preservation first)</a:t>
                      </a:r>
                    </a:p>
                  </a:txBody>
                  <a:tcPr anchor="ctr">
                    <a:solidFill>
                      <a:srgbClr val="F5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A0019"/>
                          </a:solidFill>
                          <a:latin typeface="Arial"/>
                        </a:defRPr>
                      </a:pPr>
                      <a:r>
                        <a:t>Yes (Independent Cert)</a:t>
                      </a:r>
                    </a:p>
                  </a:txBody>
                  <a:tcPr anchor="ctr">
                    <a:solidFill>
                      <a:srgbClr val="F5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A0019"/>
                          </a:solidFill>
                          <a:latin typeface="Arial"/>
                        </a:defRPr>
                      </a:pPr>
                      <a:r>
                        <a:t>Yes (Counterfactual)</a:t>
                      </a:r>
                    </a:p>
                  </a:txBody>
                  <a:tcPr anchor="ctr">
                    <a:solidFill>
                      <a:srgbClr val="F5EB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7A0019"/>
                </a:solidFill>
                <a:latin typeface="Arial"/>
              </a:defRPr>
            </a:pPr>
            <a:r>
              <a:t>Literature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787878"/>
                </a:solidFill>
                <a:latin typeface="Arial"/>
              </a:defRPr>
            </a:pPr>
            <a:r>
              <a:t>Detailed Paper-Level Matrix; D:\UMN Courses\IE 5533\Project\...\literature_matrix_repair_gap.md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787878"/>
                </a:solidFill>
                <a:latin typeface="Arial"/>
              </a:defRPr>
            </a:pPr>
            <a:r>
              <a:t>Source: D:\UMN Courses\IE 5533\Project\...\literature_matrix_repair_gap.md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7A0019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7A0019"/>
                </a:solidFill>
                <a:latin typeface="Arial"/>
              </a:defRPr>
            </a:pPr>
            <a:r>
              <a:t>Key Benchmark Citations vs. Proposed Itinerary Repair Architecture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645920"/>
          <a:ext cx="121916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415"/>
                <a:gridCol w="146304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Citation</a:t>
                      </a:r>
                    </a:p>
                  </a:txBody>
                  <a:tcPr anchor="ctr"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Stream</a:t>
                      </a:r>
                    </a:p>
                  </a:txBody>
                  <a:tcPr anchor="ctr"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Ownership labels</a:t>
                      </a:r>
                    </a:p>
                  </a:txBody>
                  <a:tcPr anchor="ctr"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Parent-child diff</a:t>
                      </a:r>
                    </a:p>
                  </a:txBody>
                  <a:tcPr anchor="ctr"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Progressive neighborhoods</a:t>
                      </a:r>
                    </a:p>
                  </a:txBody>
                  <a:tcPr anchor="ctr"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Lexicographic objectives</a:t>
                      </a:r>
                    </a:p>
                  </a:txBody>
                  <a:tcPr anchor="ctr"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Independent cert</a:t>
                      </a:r>
                    </a:p>
                  </a:txBody>
                  <a:tcPr anchor="ctr"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Explanation grounding</a:t>
                      </a:r>
                    </a:p>
                  </a:txBody>
                  <a:tcPr anchor="ctr">
                    <a:solidFill>
                      <a:srgbClr val="7A001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Vansteenwegen et al. 2011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OP / TTDP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Local search, no repair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Ju et al. 2024 (TTG)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LLM + MILP solver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Constraint strengths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Cost/feasibility opt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Solver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Solver-grounded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Huang et al. 2026 (iTIMO)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Modification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Atomic edits (ADD/DEL)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Metric check only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Karmakar et al. 2025 (TripTide)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Disruption benchmark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Traveler tolerance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Divergence metrics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LLM Judge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Chen et al. 2025 (OptiChat)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Explainable opt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Modification analysis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Optimization proof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C2C2C"/>
                          </a:solidFill>
                          <a:latin typeface="Arial"/>
                        </a:defRPr>
                      </a:pPr>
                      <a:r>
                        <a:t>Strong solver proof</a:t>
                      </a:r>
                    </a:p>
                  </a:txBody>
                  <a:tcPr anchor="ctr">
                    <a:solidFill>
                      <a:srgbClr val="E6E2D7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7A0019"/>
                          </a:solidFill>
                          <a:latin typeface="Arial"/>
                        </a:defRPr>
                      </a:pPr>
                      <a:r>
                        <a:t>Proposed Method</a:t>
                      </a:r>
                    </a:p>
                  </a:txBody>
                  <a:tcPr anchor="ctr">
                    <a:solidFill>
                      <a:srgbClr val="F5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A0019"/>
                          </a:solidFill>
                          <a:latin typeface="Arial"/>
                        </a:defRPr>
                      </a:pPr>
                      <a:r>
                        <a:t>Itinerary Repair</a:t>
                      </a:r>
                    </a:p>
                  </a:txBody>
                  <a:tcPr anchor="ctr">
                    <a:solidFill>
                      <a:srgbClr val="F5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A0019"/>
                          </a:solidFill>
                          <a:latin typeface="Arial"/>
                        </a:defRPr>
                      </a:pPr>
                      <a:r>
                        <a:t>Yes (Locked/Booked)</a:t>
                      </a:r>
                    </a:p>
                  </a:txBody>
                  <a:tcPr anchor="ctr">
                    <a:solidFill>
                      <a:srgbClr val="F5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A0019"/>
                          </a:solidFill>
                          <a:latin typeface="Arial"/>
                        </a:defRPr>
                      </a:pPr>
                      <a:r>
                        <a:t>Yes (Typed PlanDiff)</a:t>
                      </a:r>
                    </a:p>
                  </a:txBody>
                  <a:tcPr anchor="ctr">
                    <a:solidFill>
                      <a:srgbClr val="F5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A0019"/>
                          </a:solidFill>
                          <a:latin typeface="Arial"/>
                        </a:defRPr>
                      </a:pPr>
                      <a:r>
                        <a:t>Yes (Expanding Radii)</a:t>
                      </a:r>
                    </a:p>
                  </a:txBody>
                  <a:tcPr anchor="ctr">
                    <a:solidFill>
                      <a:srgbClr val="F5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A0019"/>
                          </a:solidFill>
                          <a:latin typeface="Arial"/>
                        </a:defRPr>
                      </a:pPr>
                      <a:r>
                        <a:t>Yes (Preservation first)</a:t>
                      </a:r>
                    </a:p>
                  </a:txBody>
                  <a:tcPr anchor="ctr">
                    <a:solidFill>
                      <a:srgbClr val="F5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A0019"/>
                          </a:solidFill>
                          <a:latin typeface="Arial"/>
                        </a:defRPr>
                      </a:pPr>
                      <a:r>
                        <a:t>Yes (Route-valid Cert)</a:t>
                      </a:r>
                    </a:p>
                  </a:txBody>
                  <a:tcPr anchor="ctr">
                    <a:solidFill>
                      <a:srgbClr val="F5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A0019"/>
                          </a:solidFill>
                          <a:latin typeface="Arial"/>
                        </a:defRPr>
                      </a:pPr>
                      <a:r>
                        <a:t>Yes (Counterfactual)</a:t>
                      </a:r>
                    </a:p>
                  </a:txBody>
                  <a:tcPr anchor="ctr">
                    <a:solidFill>
                      <a:srgbClr val="F5EB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7A0019"/>
                </a:solidFill>
                <a:latin typeface="Arial"/>
              </a:defRPr>
            </a:pPr>
            <a:r>
              <a:t>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787878"/>
                </a:solidFill>
                <a:latin typeface="Arial"/>
              </a:defRPr>
            </a:pPr>
            <a:r>
              <a:t>Closest Threats and Scope Guarding; repair_gap_review.md; core_paper_reading_cards.md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787878"/>
                </a:solidFill>
                <a:latin typeface="Arial"/>
              </a:defRPr>
            </a:pPr>
            <a:r>
              <a:t>Source: core_paper_reading_cards.md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7A0019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120640" cy="201168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554480"/>
            <a:ext cx="109728" cy="182880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60020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7A0019"/>
                </a:solidFill>
                <a:latin typeface="Arial"/>
              </a:defRPr>
            </a:pPr>
            <a:r>
              <a:t>iTIMO (Huang et al.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96596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787878"/>
                </a:solidFill>
                <a:latin typeface="Arial"/>
              </a:defRPr>
            </a:pPr>
            <a:r>
              <a:t>What it owns: Owns modification dataset &amp; ADD/DELETE/REPLACE vocabulary.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14600"/>
            <a:ext cx="46634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2C2C2C"/>
                </a:solidFill>
                <a:latin typeface="Arial"/>
              </a:defRPr>
            </a:pPr>
            <a:r>
              <a:t>Our Boundary: Does not provide solver-backed temporal repair with ownership levels (MOVE/RELAX/KEEP) or independent validation certificates.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5120640" cy="201168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109728" cy="182880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60020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7A0019"/>
                </a:solidFill>
                <a:latin typeface="Arial"/>
              </a:defRPr>
            </a:pPr>
            <a:r>
              <a:t>TripTide (Karmakar et al.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787878"/>
                </a:solidFill>
                <a:latin typeface="Arial"/>
              </a:defRPr>
            </a:pPr>
            <a:r>
              <a:t>What it owns: Owns disruption benchmark &amp; intent-preservation metrics.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14600"/>
            <a:ext cx="46634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2C2C2C"/>
                </a:solidFill>
                <a:latin typeface="Arial"/>
              </a:defRPr>
            </a:pPr>
            <a:r>
              <a:t>Our Boundary: Evaluates LLM text/plan revisions rather than a mathematical minimal-change repair optimizer.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39"/>
            <a:ext cx="5120640" cy="201168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840479"/>
            <a:ext cx="109728" cy="182880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88620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7A0019"/>
                </a:solidFill>
                <a:latin typeface="Arial"/>
              </a:defRPr>
            </a:pPr>
            <a:r>
              <a:t>TTG, TRIP-PAL, LLMAP (2024-2025)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51959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787878"/>
                </a:solidFill>
                <a:latin typeface="Arial"/>
              </a:defRPr>
            </a:pPr>
            <a:r>
              <a:t>What it owns: Own LLM-to-symbolic or LLM-to-optimizer travel planning.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00600"/>
            <a:ext cx="46634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2C2C2C"/>
                </a:solidFill>
                <a:latin typeface="Arial"/>
              </a:defRPr>
            </a:pPr>
            <a:r>
              <a:t>Our Boundary: Focused on planning and generating itineraries from scratch; not parent-child repair loops under localized disruptions.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749039"/>
            <a:ext cx="5120640" cy="201168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840479"/>
            <a:ext cx="109728" cy="182880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88620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7A0019"/>
                </a:solidFill>
                <a:latin typeface="Arial"/>
              </a:defRPr>
            </a:pPr>
            <a:r>
              <a:t>TravelEval, TripScore (2025-2026)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251959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787878"/>
                </a:solidFill>
                <a:latin typeface="Arial"/>
              </a:defRPr>
            </a:pPr>
            <a:r>
              <a:t>What it owns: Own whole-plan evaluation and travel benchmarks.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00600"/>
            <a:ext cx="46634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2C2C2C"/>
                </a:solidFill>
                <a:latin typeface="Arial"/>
              </a:defRPr>
            </a:pPr>
            <a:r>
              <a:t>Our Boundary: Serve as evaluator/scorer metrics for text outputs, not a constraint-satisfying repair optimization mechanism.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7A0019"/>
                </a:solidFill>
                <a:latin typeface="Arial"/>
              </a:defRPr>
            </a:pPr>
            <a:r>
              <a:t>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787878"/>
                </a:solidFill>
                <a:latin typeface="Arial"/>
              </a:defRPr>
            </a:pPr>
            <a:r>
              <a:t>Methodological Contributions &amp; Unique Formulations; repair_gap_review.md; detailed_phase_plan.md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787878"/>
                </a:solidFill>
                <a:latin typeface="Arial"/>
              </a:defRPr>
            </a:pPr>
            <a:r>
              <a:t>Source: detailed_phase_plan.md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7A0019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7A0019"/>
                </a:solidFill>
                <a:latin typeface="Arial"/>
              </a:defRPr>
            </a:pPr>
            <a:r>
              <a:t>Specific formulations that make our itinerary repair framework uniquely novel: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10728655" cy="77724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783080"/>
            <a:ext cx="109728" cy="777240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28800"/>
            <a:ext cx="10241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7A0019"/>
                </a:solidFill>
                <a:latin typeface="Arial"/>
              </a:defRPr>
            </a:pPr>
            <a:r>
              <a:t>1. Persistent Parent &amp; Asymmetric PlanDiff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084831"/>
            <a:ext cx="10241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Treats the accepted itinerary as a first-class immutable object. We compute an asymmetric PlanDiff across move, shift, and delete operations, imposing heavy edit costs for disrupting locked/booked slots compared to flexible 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10728655" cy="77724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51760"/>
            <a:ext cx="109728" cy="777240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697479"/>
            <a:ext cx="10241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7A0019"/>
                </a:solidFill>
                <a:latin typeface="Arial"/>
              </a:defRPr>
            </a:pPr>
            <a:r>
              <a:t>2. Progressive Local Neighborhoods (Radius 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953512"/>
            <a:ext cx="10241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Restricts solver search to localized neighborhoods (Radius R = 0, 1, 2) around the disruption. Unaffected segments of the itinerary are strictly frozen, avoiding schedule churn and minimizing user cognitive burden.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20439"/>
            <a:ext cx="10728655" cy="77724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520439"/>
            <a:ext cx="109728" cy="777240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566159"/>
            <a:ext cx="10241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7A0019"/>
                </a:solidFill>
                <a:latin typeface="Arial"/>
              </a:defRPr>
            </a:pPr>
            <a:r>
              <a:t>3. Lexicographic Preservation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822191"/>
            <a:ext cx="10241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Formulates a multi-stage solver in Gurobi where commitment preservation is optimized as hard lexicographic objectives (minimizing weighted edits) before we optimize any contextual/nature POI utility.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389120"/>
            <a:ext cx="109728" cy="777240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434840"/>
            <a:ext cx="10241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7A0019"/>
                </a:solidFill>
                <a:latin typeface="Arial"/>
              </a:defRPr>
            </a:pPr>
            <a:r>
              <a:t>4. Zero-Trust Independent Certification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690872"/>
            <a:ext cx="10241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Integrates a separate PlanEvaluator that validates the child plan against physical route matrix cells and database closures. A content-hash certificate is generated to fail closed on post-solve mutation.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57800"/>
            <a:ext cx="10728655" cy="77724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5257800"/>
            <a:ext cx="109728" cy="777240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303520"/>
            <a:ext cx="10241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7A0019"/>
                </a:solidFill>
                <a:latin typeface="Arial"/>
              </a:defRPr>
            </a:pPr>
            <a:r>
              <a:t>5. Grounded Counterfactual Explanations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559552"/>
            <a:ext cx="102412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Extracts explanations directly from progressive solver attempts (e.g. why radius 1 failed, which constraint bound caused it) rather than generating unconstrained LLM natural language rationales.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7A0019"/>
                </a:solidFill>
                <a:latin typeface="Arial"/>
              </a:defRPr>
            </a:pPr>
            <a:r>
              <a:t>Live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787878"/>
                </a:solidFill>
                <a:latin typeface="Arial"/>
              </a:defRPr>
            </a:pPr>
            <a:r>
              <a:t>Live/Event-Triggered Repair Novelty; context_aware_itinerary_repair_integrated_implementation_plan.md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787878"/>
                </a:solidFill>
                <a:latin typeface="Arial"/>
              </a:defRPr>
            </a:pPr>
            <a:r>
              <a:t>Source: context_aware_itinerary_repair_integrated_implementation_plan.md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7A0019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7A0019"/>
                </a:solidFill>
                <a:latin typeface="Arial"/>
              </a:defRPr>
            </a:pPr>
            <a:r>
              <a:t>1. Context Delta &amp; Non-Intrusive Gating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11680"/>
            <a:ext cx="45720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Context Delta Analyzer: Monitors weather, road closures, and user fatigue in real-time, computing impact reports rather than immediately reoptimizing.</a:t>
            </a:r>
          </a:p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Trigger Policy Engine: Maps impact severity to a gradient of trigger levels (NO_ACTION, PASSIVE_BADGE, WARNING, REPAIR_PREVIEW, CONFIRMATION_REQUIRED).</a:t>
            </a:r>
          </a:p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Gating Rationale: Prevents user notification fatigue; minor disruptions only trigger passive badges, whereas critical window violations trigger interactive previews.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7A0019"/>
                </a:solidFill>
                <a:latin typeface="Arial"/>
              </a:defRPr>
            </a:pPr>
            <a:r>
              <a:t>2. Grounded Lineage &amp; Gated Adoption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66344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Immutable Parallel Proposals: Live repair never mutates the accepted plan in place. Instead, it generates and stores parallel RepairProposals.</a:t>
            </a:r>
          </a:p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Zero-Trust Independent Validation: Before a live repair preview is shown, it must receive an independent certificate verifying physical route matrix viability.</a:t>
            </a:r>
          </a:p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Explicit User Adoption: Proposed child plans are only adopted after explicit user consent, maintaining human-in-the-loop control.</a:t>
            </a:r>
          </a:p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Lineage Log: Tracks LiveRepairLineage (events -&gt; impact -&gt; proposals -&gt; decision) for complete auditable execution.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7A0019"/>
                </a:solidFill>
                <a:latin typeface="Arial"/>
              </a:defRPr>
            </a:pPr>
            <a:r>
              <a:t>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787878"/>
                </a:solidFill>
                <a:latin typeface="Arial"/>
              </a:defRPr>
            </a:pPr>
            <a:r>
              <a:t>Research Questions and Safe Claims; research_stabilization_and_publication_plan.md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787878"/>
                </a:solidFill>
                <a:latin typeface="Arial"/>
              </a:defRPr>
            </a:pPr>
            <a:r>
              <a:t>Source: research_stabilization_and_publication_plan.md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7A0019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182880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109728" cy="1645920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7A0019"/>
                </a:solidFill>
                <a:latin typeface="Arial"/>
              </a:defRPr>
            </a:pPr>
            <a:r>
              <a:t>RQ1: Parser 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78308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Question: Can an LLM reliably extract constraints?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77440"/>
            <a:ext cx="4663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7A0019"/>
                </a:solidFill>
                <a:latin typeface="Arial"/>
              </a:defRPr>
            </a:pPr>
            <a:r>
              <a:t>Status/Action: Gated: Defer parser claims until benchmark dataset is stable.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120640" cy="182880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109728" cy="1645920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7A0019"/>
                </a:solidFill>
                <a:latin typeface="Arial"/>
              </a:defRPr>
            </a:pPr>
            <a:r>
              <a:t>RQ2: Solver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8308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Question: How does context repair perform?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77440"/>
            <a:ext cx="4663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7A0019"/>
                </a:solidFill>
                <a:latin typeface="Arial"/>
              </a:defRPr>
            </a:pPr>
            <a:r>
              <a:t>Status/Action: Central: Benchmark context-blind vs. heuristic vs. context repair vs. replan.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5120640" cy="182880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566160"/>
            <a:ext cx="109728" cy="1645920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56616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7A0019"/>
                </a:solidFill>
                <a:latin typeface="Arial"/>
              </a:defRPr>
            </a:pPr>
            <a:r>
              <a:t>RQ3: Independent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8620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Question: Can we certify plan validity?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80560"/>
            <a:ext cx="4663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7A0019"/>
                </a:solidFill>
                <a:latin typeface="Arial"/>
              </a:defRPr>
            </a:pPr>
            <a:r>
              <a:t>Status/Action: Required: Independent validation check is mandatory before displaying repair.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474720"/>
            <a:ext cx="5120640" cy="182880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566160"/>
            <a:ext cx="109728" cy="1645920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56616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7A0019"/>
                </a:solidFill>
                <a:latin typeface="Arial"/>
              </a:defRPr>
            </a:pPr>
            <a:r>
              <a:t>RQ4: Inspectability (IUI/CHI)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886200"/>
            <a:ext cx="466344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Question: Do explanation diffs aid user choice?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480560"/>
            <a:ext cx="4663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7A0019"/>
                </a:solidFill>
                <a:latin typeface="Arial"/>
              </a:defRPr>
            </a:pPr>
            <a:r>
              <a:t>Status/Action: Validation: Run controlled study to test if diff-based evidence cuts cognitive load.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559552"/>
            <a:ext cx="10149840" cy="6766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50" b="0">
                <a:solidFill>
                  <a:srgbClr val="FFFFFF"/>
                </a:solidFill>
                <a:latin typeface="Arial"/>
              </a:defRPr>
            </a:pPr>
            <a:r>
              <a:t>Safe Publication Claim: We combine ownership-labeled commitments, progressive repair neighborhoods, lexicographic objectives, independent validation, and evidence-grounded explanations to enable localized itinerary repair under disruptions.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7A0019"/>
                </a:solidFill>
                <a:latin typeface="Arial"/>
              </a:defRPr>
            </a:pPr>
            <a:r>
              <a:t>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787878"/>
                </a:solidFill>
                <a:latin typeface="Arial"/>
              </a:defRPr>
            </a:pPr>
            <a:r>
              <a:t>This Week's Project Progress; current_problem_manifest.md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787878"/>
                </a:solidFill>
                <a:latin typeface="Arial"/>
              </a:defRPr>
            </a:pPr>
            <a:r>
              <a:t>Source: current_problem_manifest.md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7A0019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7A0019"/>
                </a:solidFill>
                <a:latin typeface="Arial"/>
              </a:defRPr>
            </a:pPr>
            <a:r>
              <a:t>Phase 2.0 Progressive Solver (CP-005)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65960"/>
            <a:ext cx="45720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150" b="0">
                <a:solidFill>
                  <a:srgbClr val="2C2C2C"/>
                </a:solidFill>
                <a:latin typeface="Arial"/>
              </a:defRPr>
            </a:pPr>
            <a:r>
              <a:t>• REPAIR-001 (Neighborhood): Formulates radius 0, 1, 2 boundaries around disruptions, freezing remaining itinerary slots.</a:t>
            </a:r>
          </a:p>
          <a:p>
            <a:pPr>
              <a:spcAft>
                <a:spcPts val="1000"/>
              </a:spcAft>
              <a:defRPr sz="1150" b="0">
                <a:solidFill>
                  <a:srgbClr val="2C2C2C"/>
                </a:solidFill>
                <a:latin typeface="Arial"/>
              </a:defRPr>
            </a:pPr>
            <a:r>
              <a:t>• REPAIR-002 (Scaffold): Assembles variables for deletion, move, lodging change, and time shifts with edit costs.</a:t>
            </a:r>
          </a:p>
          <a:p>
            <a:pPr>
              <a:spcAft>
                <a:spcPts val="1000"/>
              </a:spcAft>
              <a:defRPr sz="1150" b="0">
                <a:solidFill>
                  <a:srgbClr val="2C2C2C"/>
                </a:solidFill>
                <a:latin typeface="Arial"/>
              </a:defRPr>
            </a:pPr>
            <a:r>
              <a:t>• REPAIR-003 (Selector): Implements sequential lexicographic optimization to solve preservation stages before POI utility.</a:t>
            </a:r>
          </a:p>
          <a:p>
            <a:pPr>
              <a:spcAft>
                <a:spcPts val="1000"/>
              </a:spcAft>
              <a:defRPr sz="1150" b="0">
                <a:solidFill>
                  <a:srgbClr val="2C2C2C"/>
                </a:solidFill>
                <a:latin typeface="Arial"/>
              </a:defRPr>
            </a:pPr>
            <a:r>
              <a:t>• REPAIR-004 (Subproblem): Resolves single-day route sequencing against RouteMatrix legs and windows.</a:t>
            </a:r>
          </a:p>
          <a:p>
            <a:pPr>
              <a:spcAft>
                <a:spcPts val="1000"/>
              </a:spcAft>
              <a:defRPr sz="1150" b="0">
                <a:solidFill>
                  <a:srgbClr val="2C2C2C"/>
                </a:solidFill>
                <a:latin typeface="Arial"/>
              </a:defRPr>
            </a:pPr>
            <a:r>
              <a:t>• REPAIR-005 (Controller): Coordinates expanding neighborhood candidate generation and reoptimization fallback.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7A0019"/>
                </a:solidFill>
                <a:latin typeface="Arial"/>
              </a:defRPr>
            </a:pPr>
            <a:r>
              <a:t>Phase 3.0 Plan Evaluator (CP-006)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466344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150" b="0">
                <a:solidFill>
                  <a:srgbClr val="2C2C2C"/>
                </a:solidFill>
                <a:latin typeface="Arial"/>
              </a:defRPr>
            </a:pPr>
            <a:r>
              <a:t>• VERIFY-001 (Evaluator): Implemented PlanEvaluator to verify plan correctness independently of Gurobi feasibility flags.</a:t>
            </a:r>
          </a:p>
          <a:p>
            <a:pPr>
              <a:spcAft>
                <a:spcPts val="1200"/>
              </a:spcAft>
              <a:defRPr sz="1150" b="0">
                <a:solidFill>
                  <a:srgbClr val="2C2C2C"/>
                </a:solidFill>
                <a:latin typeface="Arial"/>
              </a:defRPr>
            </a:pPr>
            <a:r>
              <a:t>• Hard Constraint Auditing: Validates user-owned commitments, lodging continuity, and opening window schedules.</a:t>
            </a:r>
          </a:p>
          <a:p>
            <a:pPr>
              <a:spcAft>
                <a:spcPts val="1200"/>
              </a:spcAft>
              <a:defRPr sz="1150" b="0">
                <a:solidFill>
                  <a:srgbClr val="2C2C2C"/>
                </a:solidFill>
                <a:latin typeface="Arial"/>
              </a:defRPr>
            </a:pPr>
            <a:r>
              <a:t>• Route Matrix Verification: Re-evaluates travel legs against physical RouteMatrix cells, rejecting unvalidated geodesic fallback cells in publication mode.</a:t>
            </a:r>
          </a:p>
          <a:p>
            <a:pPr>
              <a:spcAft>
                <a:spcPts val="1200"/>
              </a:spcAft>
              <a:defRPr sz="1150" b="0">
                <a:solidFill>
                  <a:srgbClr val="2C2C2C"/>
                </a:solidFill>
                <a:latin typeface="Arial"/>
              </a:defRPr>
            </a:pPr>
            <a:r>
              <a:t>• Content-Hash Certificate: Issues a PlanEvaluationCertificate linked to a content hash. Mutation invalidation triggers if any post-solve edit corrupts the hash.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7A0019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787878"/>
                </a:solidFill>
                <a:latin typeface="Arial"/>
              </a:defRPr>
            </a:pPr>
            <a:r>
              <a:t>Current Architecture and Data Flow Invariants; current_problem_manifest.md; technical_specification.md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787878"/>
                </a:solidFill>
                <a:latin typeface="Arial"/>
              </a:defRPr>
            </a:pPr>
            <a:r>
              <a:t>Source: technical_specification.md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7A0019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291840" cy="393192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3291840" cy="109728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4592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7A0019"/>
                </a:solidFill>
                <a:latin typeface="Arial"/>
              </a:defRPr>
            </a:pPr>
            <a:r>
              <a:t>1. Input Substrate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292608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RepositoryState</a:t>
            </a:r>
            <a:br/>
            <a:r>
              <a:t>- Context snapshots (truth layer)</a:t>
            </a:r>
            <a:br/>
            <a:r>
              <a:t>Parent Plan</a:t>
            </a:r>
            <a:br/>
            <a:r>
              <a:t>- Immutable PlanArtifactV2</a:t>
            </a:r>
            <a:br/>
            <a:r>
              <a:t>RepairRequest</a:t>
            </a:r>
            <a:br/>
            <a:r>
              <a:t>- Disruption details &amp; typed edit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291840" cy="393192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71600"/>
            <a:ext cx="3291840" cy="109728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64592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7A0019"/>
                </a:solidFill>
                <a:latin typeface="Arial"/>
              </a:defRPr>
            </a:pPr>
            <a:r>
              <a:t>2. Progressive Solver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03120"/>
            <a:ext cx="292608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ProgressiveRepairController</a:t>
            </a:r>
            <a:br/>
            <a:r>
              <a:t>- Expands neighborhoods (R=0, 1, 2)</a:t>
            </a:r>
            <a:br/>
            <a:r>
              <a:t>- Solver-neutral RepairModel</a:t>
            </a:r>
            <a:br/>
            <a:r>
              <a:t>- Lexicographic Solver</a:t>
            </a:r>
            <a:br/>
            <a:r>
              <a:t>- RouteMatrix day-route subproblem solver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291840" cy="393192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291840" cy="109728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64592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7A0019"/>
                </a:solidFill>
                <a:latin typeface="Arial"/>
              </a:defRPr>
            </a:pPr>
            <a:r>
              <a:t>3. Validation &amp;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03120"/>
            <a:ext cx="292608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Child Plan</a:t>
            </a:r>
            <a:br/>
            <a:r>
              <a:t>- Generated PlanArtifactV2 with new content hash</a:t>
            </a:r>
            <a:br/>
            <a:r>
              <a:t>PlanDiff</a:t>
            </a:r>
            <a:br/>
            <a:r>
              <a:t>- Typed edit records</a:t>
            </a:r>
            <a:br/>
            <a:r>
              <a:t>PlanEvaluator</a:t>
            </a:r>
            <a:br/>
            <a:r>
              <a:t>- Independent validation cert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E6E2D7"/>
          </a:solidFill>
          <a:ln w="19050">
            <a:solidFill>
              <a:srgbClr val="D8B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57784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7A0019"/>
                </a:solidFill>
                <a:latin typeface="Arial"/>
              </a:defRPr>
            </a:pPr>
            <a:r>
              <a:t>Core Invariant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52160"/>
            <a:ext cx="101498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C2C2C"/>
                </a:solidFill>
                <a:latin typeface="Arial"/>
              </a:defRPr>
            </a:pPr>
            <a:r>
              <a:t>No stale solver certification: Any material plan mutation immediately invalidates the certificate or creates a child lineage. Explanations must consume recorded artifacts rather than recomputing state.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7A0019"/>
                </a:solidFill>
                <a:latin typeface="Arial"/>
              </a:defRPr>
            </a:pPr>
            <a:r>
              <a:t>Blockers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787878"/>
                </a:solidFill>
                <a:latin typeface="Arial"/>
              </a:defRPr>
            </a:pPr>
            <a:r>
              <a:t>Remaining Project Blockers &amp; LLM Integration; current_problem_manifest.md; current_problem_fix_phase_plans.md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787878"/>
                </a:solidFill>
                <a:latin typeface="Arial"/>
              </a:defRPr>
            </a:pPr>
            <a:r>
              <a:t>Source: current_problem_fix_phase_plans.md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7A0019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787878"/>
                </a:solidFill>
                <a:latin typeface="Arial"/>
              </a:defRPr>
            </a:pPr>
            <a:r>
              <a:t>Done / Landed Core Substrates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11680"/>
            <a:ext cx="45720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PlanEvaluator + content-hash certificates core (CP-006).</a:t>
            </a:r>
          </a:p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Parent/child artifact lineage and PlanDiff substrate (CP-004).</a:t>
            </a:r>
          </a:p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RouteMatrix strict publication-mode boundary (CP-002).</a:t>
            </a:r>
          </a:p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Progressive repair controller and evaluator hook (CP-005).</a:t>
            </a:r>
          </a:p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Missing-source-aware utility behavior (CP-003).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4663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7A0019"/>
                </a:solidFill>
                <a:latin typeface="Arial"/>
              </a:defRPr>
            </a:pPr>
            <a:r>
              <a:t>Still Needed (Prioritized Backlog)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66344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LLM Preference-to-Commitment Interface: Compile user requests into typed solver constraints.</a:t>
            </a:r>
          </a:p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ExplanationEvidenceBuilder: Ground explanations in failed solver attempts and RouteMatrix facts.</a:t>
            </a:r>
          </a:p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Immutable Pipeline Runner &amp; Benchmark Package: For systematic evaluations.</a:t>
            </a:r>
          </a:p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Scenario Freezing: 3-4 golden scenarios (weather, closures, fatigue) for baseline runs.</a:t>
            </a:r>
          </a:p>
          <a:p>
            <a:pPr>
              <a:spcAft>
                <a:spcPts val="1200"/>
              </a:spcAft>
              <a:defRPr sz="1300" b="0">
                <a:solidFill>
                  <a:srgbClr val="2C2C2C"/>
                </a:solidFill>
                <a:latin typeface="Arial"/>
              </a:defRPr>
            </a:pPr>
            <a:r>
              <a:t>• Baseline Comparisons: Context-blind, heuristic, context-aware, and full replan solvers.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7A0019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787878"/>
                </a:solidFill>
                <a:latin typeface="Arial"/>
              </a:defRPr>
            </a:pPr>
            <a:r>
              <a:t>Next Week Target Milestones; research_stabilization_and_publication_plan.md; current_problem_manifest.md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787878"/>
                </a:solidFill>
                <a:latin typeface="Arial"/>
              </a:defRPr>
            </a:pPr>
            <a:r>
              <a:t>Source: current_problem_manifest.md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7A0019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1783080"/>
            <a:ext cx="365760" cy="365760"/>
          </a:xfrm>
          <a:prstGeom prst="ellipse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10512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600200"/>
            <a:ext cx="9326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7A0019"/>
                </a:solidFill>
                <a:latin typeface="Arial"/>
              </a:defRPr>
            </a:pPr>
            <a:r>
              <a:t>Milestone 1: Harden Evaluator &amp; LLM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920240"/>
            <a:ext cx="9326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2C2C2C"/>
                </a:solidFill>
                <a:latin typeface="Arial"/>
              </a:defRPr>
            </a:pPr>
            <a:r>
              <a:t>Connect PlanEvaluator with the LLM preference compiler; implement ExplanationEvidenceBuilder to map solver state into user dashboard explanations.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2971800"/>
            <a:ext cx="365760" cy="365760"/>
          </a:xfrm>
          <a:prstGeom prst="ellipse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999232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788920"/>
            <a:ext cx="9326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7A0019"/>
                </a:solidFill>
                <a:latin typeface="Arial"/>
              </a:defRPr>
            </a:pPr>
            <a:r>
              <a:t>Milestone 2: Freeze Golden Scenarios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108960"/>
            <a:ext cx="9326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2C2C2C"/>
                </a:solidFill>
                <a:latin typeface="Arial"/>
              </a:defRPr>
            </a:pPr>
            <a:r>
              <a:t>Freeze 3-4 golden scenarios with real-data (weather burden, attraction closure, mobility delay, accessibility).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4160520"/>
            <a:ext cx="365760" cy="365760"/>
          </a:xfrm>
          <a:prstGeom prst="ellipse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187952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977640"/>
            <a:ext cx="9326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7A0019"/>
                </a:solidFill>
                <a:latin typeface="Arial"/>
              </a:defRPr>
            </a:pPr>
            <a:r>
              <a:t>Milestone 3: Benchmark &amp; Baseline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97680"/>
            <a:ext cx="9326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2C2C2C"/>
                </a:solidFill>
                <a:latin typeface="Arial"/>
              </a:defRPr>
            </a:pPr>
            <a:r>
              <a:t>Run the pipeline runner across frozen inputs to collect metrics (preservation, edit costs, utility regret) comparing context-blind, heuristic, and context-aware solvers.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349240"/>
            <a:ext cx="365760" cy="365760"/>
          </a:xfrm>
          <a:prstGeom prst="ellipse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376672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166360"/>
            <a:ext cx="9326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7A0019"/>
                </a:solidFill>
                <a:latin typeface="Arial"/>
              </a:defRPr>
            </a:pPr>
            <a:r>
              <a:t>Milestone 4: Strict Validation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486400"/>
            <a:ext cx="93268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50" b="0">
                <a:solidFill>
                  <a:srgbClr val="2C2C2C"/>
                </a:solidFill>
                <a:latin typeface="Arial"/>
              </a:defRPr>
            </a:pPr>
            <a:r>
              <a:t>Execute strict ruff, pytest, and route matrix checks in a locked run directory before drafting publication prose.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73152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600" b="1">
                <a:solidFill>
                  <a:srgbClr val="7A0019"/>
                </a:solidFill>
                <a:latin typeface="Arial"/>
              </a:defRPr>
            </a:pPr>
            <a:r>
              <a:t>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787878"/>
                </a:solidFill>
                <a:latin typeface="Arial"/>
              </a:defRPr>
            </a:pPr>
            <a:r>
              <a:t>Discussion and Decisions Needed; research_stabilization_and_publication_plan.md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92240"/>
            <a:ext cx="10728655" cy="18288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Arial"/>
              </a:defRPr>
            </a:pPr>
            <a:r>
              <a:t>Context-Aware Itinerary Repair | Professor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0">
                <a:solidFill>
                  <a:srgbClr val="787878"/>
                </a:solidFill>
                <a:latin typeface="Arial"/>
              </a:defRPr>
            </a:pPr>
            <a:r>
              <a:t>Source: research_stabilization_and_publication_plan.md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457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7A0019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3291840" cy="329184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00200"/>
            <a:ext cx="3291840" cy="109728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74519"/>
            <a:ext cx="29260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7A0019"/>
                </a:solidFill>
                <a:latin typeface="Arial"/>
              </a:defRPr>
            </a:pPr>
            <a:r>
              <a:t>RQ1 Parser Deferral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29260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50" b="0">
                <a:solidFill>
                  <a:srgbClr val="2C2C2C"/>
                </a:solidFill>
                <a:latin typeface="Arial"/>
              </a:defRPr>
            </a:pPr>
            <a:r>
              <a:t>Should the LLM/parser benchmark be deferred until the solver repair evidence is fully stable? Deferring helps focus exclusively on solver-backed repair.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00200"/>
            <a:ext cx="3291840" cy="329184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600200"/>
            <a:ext cx="3291840" cy="109728"/>
          </a:xfrm>
          <a:prstGeom prst="rect">
            <a:avLst/>
          </a:prstGeom>
          <a:solidFill>
            <a:srgbClr val="D8B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874519"/>
            <a:ext cx="29260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7A0019"/>
                </a:solidFill>
                <a:latin typeface="Arial"/>
              </a:defRPr>
            </a:pPr>
            <a:r>
              <a:t>First Demo Corridor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97480"/>
            <a:ext cx="29260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50" b="0">
                <a:solidFill>
                  <a:srgbClr val="2C2C2C"/>
                </a:solidFill>
                <a:latin typeface="Arial"/>
              </a:defRPr>
            </a:pPr>
            <a:r>
              <a:t>Which corridor or scenario should become the frozen professor-demo case? Recommended: California scenic corridors (e.g. Pacific Coast Highway closures).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00200"/>
            <a:ext cx="3291840" cy="3291840"/>
          </a:xfrm>
          <a:prstGeom prst="roundRect">
            <a:avLst/>
          </a:prstGeom>
          <a:solidFill>
            <a:srgbClr val="E6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600200"/>
            <a:ext cx="3291840" cy="109728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19"/>
            <a:ext cx="29260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7A0019"/>
                </a:solidFill>
                <a:latin typeface="Arial"/>
              </a:defRPr>
            </a:pPr>
            <a:r>
              <a:t>Demo Depth for Meeting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697480"/>
            <a:ext cx="29260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50" b="0">
                <a:solidFill>
                  <a:srgbClr val="2C2C2C"/>
                </a:solidFill>
                <a:latin typeface="Arial"/>
              </a:defRPr>
            </a:pPr>
            <a:r>
              <a:t>Should the next milestone review showcase a raw command-line pipeline execution, an interactive dashboard walkthrough, or an initial paper draft structure?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257800"/>
            <a:ext cx="101498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Takeaway Goal: Leave the meeting with one frozen scenario corridor, one explicit evidence threshold, and a decided presentation format.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