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381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F80ED"/>
                </a:solidFill>
                <a:latin typeface="Arial"/>
              </a:defRPr>
            </a:pPr>
            <a:r>
              <a:t>Wednesday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Context-Aware, Inspectable Itinerary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0">
                <a:solidFill>
                  <a:srgbClr val="EAF3FF"/>
                </a:solidFill>
                <a:latin typeface="Arial"/>
              </a:defRPr>
            </a:pPr>
            <a:r>
              <a:t>Literature Gap, Weekly Progress, and Next-Step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274320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5486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EAF3FF"/>
                </a:solidFill>
                <a:latin typeface="Arial"/>
              </a:defRPr>
            </a:pPr>
            <a:r>
              <a:t>Presenter: Yit Xiaang Ztang</a:t>
            </a:r>
            <a:br/>
            <a:r>
              <a:t>Literature deep dive + implementation progress + next week plan</a:t>
            </a:r>
            <a:br/>
            <a:r>
              <a:t>July 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206240"/>
            <a:ext cx="2011680" cy="73152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4343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12 slides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206240"/>
            <a:ext cx="2011680" cy="73152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4343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G0-G5 repair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  <a:br/>
            <a:r>
              <a:t>Source: deck request + planning/literature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One-Slide Executive Summary; repair_gap_review.md;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07825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rial"/>
              </a:defRPr>
            </a:pPr>
            <a:r>
              <a:rPr dirty="0"/>
              <a:t>Core Thesis &amp;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25074"/>
            <a:ext cx="4572000" cy="43088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• Repair, Do Not Regenerate: </a:t>
            </a:r>
            <a:endParaRPr lang="en-US" sz="1600" dirty="0"/>
          </a:p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Treating the accepted itinerary as a persistent, user-owned parent artifact rather than a blank slate.</a:t>
            </a:r>
          </a:p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• Asymmetric Penalty Model: </a:t>
            </a:r>
            <a:endParaRPr lang="en-US" sz="1600" dirty="0"/>
          </a:p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Distinguishes between locked, booked, preferred, and flexible elements, computing typed weighted change costs directly.</a:t>
            </a:r>
          </a:p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• Methodological Core: </a:t>
            </a:r>
            <a:endParaRPr lang="en-US" sz="1600" dirty="0"/>
          </a:p>
          <a:p>
            <a:pPr>
              <a:spcAft>
                <a:spcPts val="1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600" u="sng" dirty="0"/>
              <a:t>We do not claim LLM or solver novelty in isolation; </a:t>
            </a:r>
            <a:r>
              <a:rPr sz="1600" dirty="0"/>
              <a:t>our novelty is the tightly coupled architecture of progressive search, lexicographic constraints, independent validation, and grounded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66344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rial"/>
              </a:defRPr>
            </a:pPr>
            <a:r>
              <a:rPr sz="2400"/>
              <a:t>5 Pillars of the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66344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sz="1600"/>
              <a:t>1. Parent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67712"/>
            <a:ext cx="466344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sz="1400"/>
              <a:t>Persistent, version-controlled immutable plan lineage.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466344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sz="1600" dirty="0"/>
              <a:t>2. Ownership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90672"/>
            <a:ext cx="46634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sz="1400"/>
              <a:t>Typed user commitments (locked, booked, flexible) as solver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466344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sz="1600"/>
              <a:t>3. PlanDiff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13632"/>
            <a:ext cx="46634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sz="1400" dirty="0"/>
              <a:t>Strict asymmetric edit cost matrix calculated across move, delete, and shift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66344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sz="1600"/>
              <a:t>4. Independent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36592"/>
            <a:ext cx="46634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sz="1400"/>
              <a:t>Zero-trust verification validating plans against physical routes and databases.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466344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sz="1600"/>
              <a:t>5. Grounded 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59552"/>
            <a:ext cx="46634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sz="1400"/>
              <a:t>Counterfactual rationales constructed from progressive solver search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Research Direction and Problem Shift;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120640" cy="10972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FROM: Weather-Aware Itinerary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4572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• Generate itineraries from scratch based on raw user preferences.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• Treat weather merely as a contextual POI utility modifier.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• Weak Novelty Claim: Tourist trip design optimization (TTDP/OP) is mature; hard to demonstrate publication-grade novelty.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• Hard to Explain: Since the original plan vanishes, explanations lack a relative base anchor.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120640" cy="4114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120640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rial"/>
              </a:defRPr>
            </a:pPr>
            <a:r>
              <a:t>TO: Context-Aware Repair After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dirty="0"/>
              <a:t>• Start from an already accepted, user-owned parent itinerary.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dirty="0"/>
              <a:t>• Formulate disruptions (weather, closures) as triggers for minimal local repair.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dirty="0"/>
              <a:t>• Preserve ownership commitments first using lexicographic optimization.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dirty="0"/>
              <a:t>• Measure parent-child schedule edits directly as a clear outcome metric.</a:t>
            </a:r>
          </a:p>
          <a:p>
            <a:pPr>
              <a:spcAft>
                <a:spcPts val="10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rPr dirty="0"/>
              <a:t>• Strong Novelty Claim: Highly scoped, defensible, and easier to validate.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698480" cy="731520"/>
          </a:xfrm>
          <a:prstGeom prst="round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687568"/>
            <a:ext cx="10149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FFFFFF"/>
                </a:solidFill>
                <a:latin typeface="Arial"/>
              </a:defRPr>
            </a:pPr>
            <a:r>
              <a:t>Publishability Impact: Focusing on parent-child repair establishes a narrower, more rigorous unit of evidence. Preservation rates, feasibility certs, and diff costs become mathematically measurable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Literature Landscape Matrix; literature_matrix_repair_gap.md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literature_matrix_repair_gap.md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rial"/>
              </a:defRPr>
            </a:pPr>
            <a:r>
              <a:t>Legend: Dark Blue = Covered | Green Highlight = Proposed Method | Light Card = Muted / Partial / Missing in literature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Literature Stream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Ownership Labels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Parent-Child Diff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Progressive Neighborhoods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Lexicographic Objectives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Independent Cert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Explanation Grounding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OP / TTDP Optimization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rPr dirty="0"/>
                        <a:t>Weak (local search)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Dynamic &amp; RL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 (reoptimizes all)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LLM Travel Planning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Weak (user prompts)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Weak (heuristics)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Partial (tool call)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Weak (text trace)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Itinerary Modification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Atomic (ADD/DEL)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Metric check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Disruption Benchmarks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Traveler tolerance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Divergence metrics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LLM Judge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Reward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Explainable Optimization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Model checks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Strong (solver proof)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Proposed Method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(Locked/Booked)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(Typed PlanDiff)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rPr dirty="0"/>
                        <a:t>Yes (Expanding Radii)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rPr dirty="0"/>
                        <a:t>Yes (Preservation first)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(Independent Cert)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rPr dirty="0"/>
                        <a:t>Yes (Counterfactual)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Literature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Detailed Paper-Level Matrix; literature_matrix_repair_gap.md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literature_matrix_repair_gap.md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6233A"/>
                </a:solidFill>
                <a:latin typeface="Arial"/>
              </a:defRPr>
            </a:pPr>
            <a:r>
              <a:t>Key Benchmark Citations vs. Proposed Itinerary Repair Architecture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615402"/>
              </p:ext>
            </p:extLst>
          </p:nvPr>
        </p:nvGraphicFramePr>
        <p:xfrm>
          <a:off x="4037" y="1673352"/>
          <a:ext cx="121916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Key Citation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Stream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Ownership labels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Parent-child diff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Progressive neighborhoods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Lexicographic objectives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Independent cert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Explanation grounding</a:t>
                      </a:r>
                    </a:p>
                  </a:txBody>
                  <a:tcPr anchor="ctr"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Vansteenwegen et al. 2011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OP / TTDP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Local search, no repair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Ju et al. 2024 (TTG)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LLM + MILP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Constraint strengths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Cost/feasibility opt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Solver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Solver-grounded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Huang et al. 2026 (iTIMO)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Modification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Atomic edits (ADD/DEL)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Metric check only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Karmakar et al. 2025 (TripTide)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Disruption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Traveler tolerance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Divergence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LLM Judge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Chen et al. 2025 (OptiChat)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Explainable opt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Modification analysis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Optimization proof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Strong solver proof</a:t>
                      </a:r>
                    </a:p>
                  </a:txBody>
                  <a:tcPr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Proposed Method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Itinerary Repair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(Locked/Booked)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(Typed PlanDiff)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(Expanding Radii)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(Preservation first)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t>Yes (Route-valid Cert)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F643C"/>
                          </a:solidFill>
                          <a:latin typeface="Arial"/>
                        </a:defRPr>
                      </a:pPr>
                      <a:r>
                        <a:rPr dirty="0"/>
                        <a:t>Yes (Counterfactual)</a:t>
                      </a:r>
                    </a:p>
                  </a:txBody>
                  <a:tcPr anchor="ctr">
                    <a:solidFill>
                      <a:srgbClr val="E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Closest Threats and Scope Guarding; repair_gap_review.md; core_paper_reading_cards.md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core_paper_reading_cards.md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109728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iTIMO (Huang et al.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rPr dirty="0"/>
              <a:t>What it owns: Owns modification dataset &amp; ADD/DELETE/REPLACE vocabulary.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rPr dirty="0"/>
              <a:t>Our Boundary: Does not provide solver-backed temporal repair with ownership levels (MOVE/RELAX/KEEP) or independent validation certificates.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109728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TripTide (Karmakar et al.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Owns disruption benchmark &amp; intent-preservation metrics.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Our Boundary: Evaluates LLM text/plan revisions rather than a mathematical minimal-change repair optimizer.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79"/>
            <a:ext cx="109728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TTG, TRIP-PAL, LLMAP (2024-2025)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59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 LLM-to-symbolic or LLM-to-optimizer travel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Our Boundary: Focused on planning and generating itineraries from scratch; not parent-child repair loops under localized disruptions.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840479"/>
            <a:ext cx="109728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886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TravelEval, TripScore (2025-2026)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59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 whole-plan evaluation and travel benchmarks.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00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Our Boundary: Serve as evaluator/scorer metrics for text outputs, not a constraint-satisfying repair optimization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Methodological Contributions &amp; Unique Formulations; repair_gap_review.md; detailed_phase_plan.md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detailed_phase_plan.md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t>Specific formulations that make our itinerary repair framework uniquely novel: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0728655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78308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t>1. Persistent Parent &amp; Asymmetric PlanDiff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84831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Treats the accepted itinerary as a first-class immutable object. We compute an asymmetric PlanDiff across move, shift, and delete operations, imposing heavy edit costs for disrupting locked/booked slots compared to flexible 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0728655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79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dirty="0"/>
              <a:t>2. Progressive Local Neighborhoods (Radius 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rPr dirty="0"/>
              <a:t>Restricts solver search to localized neighborhoods (Radius R = 0, 1, 2) around the disruption. Unaffected segments of the itinerary are strictly frozen, avoiding schedule churn and minimizing user cognitive burden.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39"/>
            <a:ext cx="10728655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520439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59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t>3. Lexicographic Preservation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22191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Formulates a multi-stage solver in Gurobi where commitment preservation is optimized as hard lexicographic objectives (minimizing weighted edits) before we optimize any contextual/nature POI utility.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38912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t>4. Zero-Trust Independent Certification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9087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Integrates a separate PlanEvaluator that validates the child plan against physical route matrix cells and database closures. A content-hash certificate is generated to fail closed on post-solve mutation.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728655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2578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rPr dirty="0"/>
              <a:t>5. Grounded Counterfactual Explanations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5955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Extracts explanations directly from progressive solver attempts (e.g. why radius 1 failed, which constraint bound caused it) rather than generating unconstrained LLM natural language rationales.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Live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Live/Event-Triggered Repair Novelty; context_aware_itinerary_repair_integrated_implementation_plan.md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context_aware_itinerary_repair_integrated_implementation_plan.md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3756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337560" cy="10972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1. Context Delta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240279"/>
            <a:ext cx="91440" cy="1645919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Context Watcher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269748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 dirty="0"/>
              <a:t>Compares context snapshots (weather, fatigue, road closures) in real-time.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160520"/>
            <a:ext cx="91440" cy="1645919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Impact 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62272"/>
            <a:ext cx="2697480" cy="6001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/>
              <a:t>Computes affected days and segments directly, producing structured ImpactReports.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1371600"/>
            <a:ext cx="333756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25696" y="1371600"/>
            <a:ext cx="3337560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2. Trigger Policy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8576" y="219456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08576" y="2240279"/>
            <a:ext cx="91440" cy="1645919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91456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Intelligent Filtering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2542032"/>
            <a:ext cx="269748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/>
              <a:t>Filters out minor anomalies to prevent user notification fatigue.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411480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08576" y="4160520"/>
            <a:ext cx="91440" cy="1645919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1456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Trigger Levels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462272"/>
            <a:ext cx="2697480" cy="6001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/>
              <a:t>Maps impact severity to trigger levels: PASSIVE_BADGE, WARNING, or REPAIR_PREVIEW.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1371600"/>
            <a:ext cx="333756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19872" y="1371600"/>
            <a:ext cx="3337560" cy="109728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2752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3. Repair Proposal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219456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02752" y="2240279"/>
            <a:ext cx="91440" cy="1645919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5632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Immutable Proposals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2542032"/>
            <a:ext cx="269748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/>
              <a:t>Generates proposed child plans in isolated runs without mutating parent.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4114800"/>
            <a:ext cx="2971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02752" y="4160520"/>
            <a:ext cx="91440" cy="1645919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85632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Gated Adoption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4462272"/>
            <a:ext cx="269748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rPr sz="1100"/>
              <a:t>Gates adoption behind RouteMatrix certs and explicit user authorization.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Research Questions and Safe Claims;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10972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RQ1: Parser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Question: Can an LLM reliably extract constraints?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Status/Action: Gated: Defer parser claims until benchmark dataset is 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120640" cy="1828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10972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RQ2: Solver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Question: How does context repair perform?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Status/Action: Central: Benchmark context-blind vs. heuristic vs. context repair vs. replan.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5120640" cy="1828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10972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RQ3: Independent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Question: Can we certify plan validity?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Status/Action: Required: Independent validation check is mandatory before displaying repair.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5120640" cy="182880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10972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RQ4: Inspectability (IUI/CHI)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Question: Do explanation diffs aid user choice?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Status/Action: Validation: Run controlled study to test if diff-based evidence cuts cognitive load.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149840" cy="6766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FFFFFF"/>
                </a:solidFill>
                <a:latin typeface="Arial"/>
              </a:defRPr>
            </a:pPr>
            <a:r>
              <a:t>Safe Publication Claim: We combine ownership-labeled commitments, progressive repair neighborhoods, lexicographic objectives, independent validation, and evidence-grounded explanations to enable localized itinerary repair under disruptions.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This Week's Project Progress;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31920" y="1600200"/>
            <a:ext cx="1828800" cy="365760"/>
          </a:xfrm>
          <a:prstGeom prst="roundRect">
            <a:avLst/>
          </a:prstGeom>
          <a:solidFill>
            <a:srgbClr val="EAF7F0"/>
          </a:solidFill>
          <a:ln>
            <a:solidFill>
              <a:srgbClr val="1F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166420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1F643C"/>
                </a:solidFill>
                <a:latin typeface="Arial"/>
              </a:defRPr>
            </a:pPr>
            <a:r>
              <a:t>CP-005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00200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rial"/>
              </a:defRPr>
            </a:pPr>
            <a:r>
              <a:t>Progressive Solver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40280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286000"/>
            <a:ext cx="91440" cy="58521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3317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REPAIR-001 (Neighborhood)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87752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Restricts search to radius R around disruptions; freezes unaffected segments.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90088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035808"/>
            <a:ext cx="91440" cy="58521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08152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REPAIR-002 (Scaffold Builder)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37560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Assembles selection, move, lodging, and shift decision variables with edit costs.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39896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3785615"/>
            <a:ext cx="91440" cy="58521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831335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REPAIR-003 (Selector)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87368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Solves sequential stages lexicographically (preservation before utility).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89704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535424"/>
            <a:ext cx="91440" cy="58521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581144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REPAIR-004 (Day Subproblem)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37176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Evaluates stop sequences against RouteMatrix legs, anchors, and windows.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239512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5285232"/>
            <a:ext cx="91440" cy="58521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330952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REPAIR-005 (Controller)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86984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Manages neighborhood growth, records attempts, and falls back to reoptimization.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371600"/>
            <a:ext cx="521208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45752" y="1600200"/>
            <a:ext cx="1828800" cy="365760"/>
          </a:xfrm>
          <a:prstGeom prst="roundRect">
            <a:avLst/>
          </a:prstGeom>
          <a:solidFill>
            <a:srgbClr val="EAF7F0"/>
          </a:solidFill>
          <a:ln>
            <a:solidFill>
              <a:srgbClr val="1F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45752" y="166420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1F643C"/>
                </a:solidFill>
                <a:latin typeface="Arial"/>
              </a:defRPr>
            </a:pPr>
            <a:r>
              <a:t>CP-006 COMPLETED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1600200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rial"/>
              </a:defRPr>
            </a:pPr>
            <a:r>
              <a:t>Plan Evaluator &amp; Certificates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28232" y="2240280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28232" y="2286000"/>
            <a:ext cx="91440" cy="58521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23317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VERIFY-001 (Evaluator)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2587752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Recomputes plan eligibility independently of solver feasibility variables.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28232" y="2990088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28232" y="3035808"/>
            <a:ext cx="91440" cy="58521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308152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Commitment 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3337560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Verifies hard owned constraints, lodging continuity, and time windows.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28232" y="3739896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28232" y="3785615"/>
            <a:ext cx="91440" cy="58521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3831335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Route Matrix Gating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4087368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Checks legs against RouteMatrix cells; rejects unvalidated fallback paths.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28232" y="4489704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28232" y="4535424"/>
            <a:ext cx="91440" cy="58521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11112" y="4581144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Content-Hash Certificate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837176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Binds plans to certificates. Mutation invalidation triggers on hash mismatch.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5239512"/>
            <a:ext cx="48463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28232" y="5285232"/>
            <a:ext cx="91440" cy="58521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11112" y="5330952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Evidence Reporting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11112" y="5586984"/>
            <a:ext cx="4572000" cy="2651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Separate collection of warnings and terminal validation errors for display.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Current Architecture and Data Flow Invariants; current_problem_manifest.md; technical_specification.md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technical_specification.md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37560" cy="38404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3337560" cy="10972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1. Input Substrate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240280"/>
            <a:ext cx="9144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PARENT PLAN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Immutable parent itinerary (PlanArtifactV2) carrying user's original schedule.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200400"/>
            <a:ext cx="9144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0215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Disruption details (weather risk, closure delta) and user edit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1480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160520"/>
            <a:ext cx="9144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REPOSITORY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6227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State indicators representing live environmental evidence.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3291840"/>
            <a:ext cx="173736" cy="13716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25696" y="1463040"/>
            <a:ext cx="3337560" cy="38404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25696" y="1463040"/>
            <a:ext cx="3337560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08576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2. Progressive Solver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8576" y="219456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08576" y="2240280"/>
            <a:ext cx="91440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1456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NEIGHBORHOOD BUILDER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6" y="254203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Builds localized neighborhoods (R=0, 1, 2) freezing external variables.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8576" y="315468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08576" y="3200400"/>
            <a:ext cx="91440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1456" y="324612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REPAIR MASTER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350215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Solver-neutral model mapping variables, constraints, and edit costs.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08576" y="411480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4160520"/>
            <a:ext cx="91440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91456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LEXICOGRAPHIC SELECTOR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446227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Solves progressive radii lexicographically using RouteMatrix day-route subproblems.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854696" y="3291840"/>
            <a:ext cx="173736" cy="13716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19872" y="1463040"/>
            <a:ext cx="3337560" cy="38404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19872" y="1463040"/>
            <a:ext cx="3337560" cy="109728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02752" y="1645920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233A"/>
                </a:solidFill>
                <a:latin typeface="Arial"/>
              </a:defRPr>
            </a:pPr>
            <a:r>
              <a:t>3. Certification &amp; Diff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219456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302752" y="2240280"/>
            <a:ext cx="91440" cy="731520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85632" y="228600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CHILD PLAN ARTIFACT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54203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Resulting repaired itinerary plan with unique version content hash.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02752" y="315468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302752" y="3200400"/>
            <a:ext cx="91440" cy="731520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85632" y="324612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PLAN DIFF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50215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Formulates user-facing asymmetric edit matrix metrics.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02752" y="411480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302752" y="4160520"/>
            <a:ext cx="91440" cy="731520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85632" y="4206240"/>
            <a:ext cx="2697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EVALUATION CERTIFICATE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462272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Independent check evaluating paths against RouteMatrix cells.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5840" y="5577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rial"/>
              </a:defRPr>
            </a:pPr>
            <a:r>
              <a:t>Core Invariant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No stale solver certification: Any material plan mutation immediately invalidates the certificate or creates a child lineage. Explanations must consume recorded artifacts rather than recomputing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Remaining Project Blockers &amp; LLM Integration; current_problem_manifest.md; current_problem_fix_phase_plans.md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current_problem_fix_phase_plans.md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787878"/>
                </a:solidFill>
                <a:latin typeface="Arial"/>
              </a:defRPr>
            </a:pPr>
            <a:r>
              <a:t>Landed Core Substrates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21408"/>
            <a:ext cx="4846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2167127"/>
            <a:ext cx="91440" cy="621792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21284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[✓] PlanEvaluator &amp; Content-Hash 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68879"/>
            <a:ext cx="45720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VERIFY-001 independent checks of windows, lodging, and routes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98648"/>
            <a:ext cx="4846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2944368"/>
            <a:ext cx="91440" cy="621792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99008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[✓] Parent/Child Lineage &amp; PlanDiff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45720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Strict asymmetric edit metrics calculated between parent and child.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75887"/>
            <a:ext cx="4846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721607"/>
            <a:ext cx="91440" cy="621792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767327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[✓] RouteMatrix Solver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59"/>
            <a:ext cx="45720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Solver adapters strictly route via RouteMatrix cell coordinates in publication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53127"/>
            <a:ext cx="4846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498847"/>
            <a:ext cx="91440" cy="621792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544567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[✓] Progressive Controller &amp; Day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00599"/>
            <a:ext cx="45720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Expands neighborhood, selects candidates, and solves day routes.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230368"/>
            <a:ext cx="4846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5276088"/>
            <a:ext cx="91440" cy="621792"/>
          </a:xfrm>
          <a:prstGeom prst="rect">
            <a:avLst/>
          </a:prstGeom>
          <a:solidFill>
            <a:srgbClr val="1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321807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[✓] Missing-Source Utility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77840"/>
            <a:ext cx="45720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MCDA/TOPSIS missing source masks and uncertainty calculation.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1371600"/>
            <a:ext cx="5212080" cy="475488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rial"/>
              </a:defRPr>
            </a:pPr>
            <a:r>
              <a:t>Remaining Blockers (Next Steps)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8232" y="2121408"/>
            <a:ext cx="4846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28232" y="2167127"/>
            <a:ext cx="91440" cy="777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221284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[!] LLM Preference-to-Commitment compiler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2468879"/>
            <a:ext cx="4572000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Bounded NLP parser to compile user requests into typed solver constraints.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28232" y="3081528"/>
            <a:ext cx="4846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28232" y="3127248"/>
            <a:ext cx="91440" cy="777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317296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[!] ExplanationEvidenceBuilder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429000"/>
            <a:ext cx="4572000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Grounds explanations in failed solver attempts and RouteMatrix facts.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28232" y="4041648"/>
            <a:ext cx="4846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28232" y="4087368"/>
            <a:ext cx="91440" cy="777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4133087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[!] Immutable Pipeline Runner &amp; Benchmark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4389120"/>
            <a:ext cx="4572000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Pipeline runner to execute automated evaluations on frozen contexts.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28232" y="5001768"/>
            <a:ext cx="4846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28232" y="5047488"/>
            <a:ext cx="91440" cy="777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5093208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233A"/>
                </a:solidFill>
                <a:latin typeface="Arial"/>
              </a:defRPr>
            </a:pPr>
            <a:r>
              <a:t>[!] Scenario Freezing &amp; Baselines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5349240"/>
            <a:ext cx="4572000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Establish 3-4 golden scenarios and comparisons against context-blind solvers.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Next Week Target Milestones; research_stabilization_and_publication_plan.md;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1783080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1051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60020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Milestone 1: Harden Evaluator &amp; LLM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024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Connect PlanEvaluator with the LLM preference compiler; implement ExplanationEvidenceBuilder to map solver state into user dashboard explanations.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2971800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99923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8892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Milestone 2: Freeze Golden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0896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Freeze 3-4 golden scenarios with real-data (weather burden, attraction closure, mobility delay, accessibility).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4160520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7764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Milestone 3: Benchmark &amp; Baseline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9768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Run the pipeline runner across frozen inputs to collect metrics (preservation, edit costs, utility regret) comparing context-blind, heuristic, and context-aware solvers.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05840" y="5349240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16636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rial"/>
              </a:defRPr>
            </a:pPr>
            <a:r>
              <a:t>Milestone 4: Strict Validation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475569"/>
                </a:solidFill>
                <a:latin typeface="Arial"/>
              </a:defRPr>
            </a:pPr>
            <a:r>
              <a:t>Execute strict ruff, pytest, and route matrix checks in a locked run directory before drafting publication prose.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16233A"/>
                </a:solidFill>
                <a:latin typeface="Arial"/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Discussion and Decisions Needed;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rPr dirty="0"/>
              <a:t>Context-Aware Itinerary Repair | </a:t>
            </a:r>
            <a:r>
              <a:rPr lang="en-US" altLang="zh-CN" dirty="0"/>
              <a:t>Wednesday Meeting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16233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291840" cy="3291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rial"/>
              </a:defRPr>
            </a:pPr>
            <a:r>
              <a:t>RQ1 Parser Deferral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475569"/>
                </a:solidFill>
                <a:latin typeface="Arial"/>
              </a:defRPr>
            </a:pPr>
            <a:r>
              <a:rPr dirty="0"/>
              <a:t>Should the LLM/parser benchmark be deferred until the solver repair evidence is fully stable? Deferring helps focus exclusively on solver-backed repair.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291840" cy="3291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600200"/>
            <a:ext cx="3291840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rial"/>
              </a:defRPr>
            </a:pPr>
            <a:r>
              <a:t>First Demo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475569"/>
                </a:solidFill>
                <a:latin typeface="Arial"/>
              </a:defRPr>
            </a:pPr>
            <a:r>
              <a:t>Which corridor or scenario should become the frozen professor-demo case? Recommended: California scenic corridors (e.g. Pacific Coast Highway closures).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291840" cy="32918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291840" cy="109728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6233A"/>
                </a:solidFill>
                <a:latin typeface="Arial"/>
              </a:defRPr>
            </a:pPr>
            <a:r>
              <a:t>Demo Depth for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475569"/>
                </a:solidFill>
                <a:latin typeface="Arial"/>
              </a:defRPr>
            </a:pPr>
            <a:r>
              <a:t>Should the next milestone review showcase a raw command-line pipeline execution, an interactive dashboard walkthrough, or an initial paper draft structure?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Takeaway Goal: Leave the meeting with one frozen scenario corridor, one explicit evidence threshold, and a decided presentation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2540</Words>
  <Application>Microsoft Office PowerPoint</Application>
  <PresentationFormat>Widescreen</PresentationFormat>
  <Paragraphs>360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Yit Xiaang Ztang</cp:lastModifiedBy>
  <cp:revision>5</cp:revision>
  <dcterms:created xsi:type="dcterms:W3CDTF">2013-01-27T09:14:16Z</dcterms:created>
  <dcterms:modified xsi:type="dcterms:W3CDTF">2026-07-08T18:00:41Z</dcterms:modified>
  <cp:category/>
</cp:coreProperties>
</file>