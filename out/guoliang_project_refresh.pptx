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ac31933ee7d4736" Type="http://schemas.openxmlformats.org/package/2006/relationships/metadata/core-properties" Target="docProps/core.xml"/><Relationship Id="Rb7de3af2cd6d4071" Type="http://schemas.openxmlformats.org/officeDocument/2006/relationships/extended-properties" Target="docProps/app.xml"/><Relationship Id="Rfe9018f4b9824e66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8f274db9fb47ac"/>
  </p:sldMasterIdLst>
  <p:notesMasterIdLst>
    <p:notesMasterId xmlns:r="http://schemas.openxmlformats.org/officeDocument/2006/relationships" r:id="R524afe59a16b40e8"/>
  </p:notesMasterIdLst>
  <p:sldIdLst>
    <p:sldId xmlns:r="http://schemas.openxmlformats.org/officeDocument/2006/relationships" id="256" r:id="R5ed3de886bb34152"/>
    <p:sldId xmlns:r="http://schemas.openxmlformats.org/officeDocument/2006/relationships" id="257" r:id="R5db59470c3d54f61"/>
    <p:sldId xmlns:r="http://schemas.openxmlformats.org/officeDocument/2006/relationships" id="258" r:id="R4dfa3758d050409a"/>
    <p:sldId xmlns:r="http://schemas.openxmlformats.org/officeDocument/2006/relationships" id="259" r:id="Redbca0bcc6f34a09"/>
    <p:sldId xmlns:r="http://schemas.openxmlformats.org/officeDocument/2006/relationships" id="260" r:id="Rc2c93b1ba6e74244"/>
    <p:sldId xmlns:r="http://schemas.openxmlformats.org/officeDocument/2006/relationships" id="261" r:id="R8fbc03cbc61f41d6"/>
    <p:sldId xmlns:r="http://schemas.openxmlformats.org/officeDocument/2006/relationships" id="262" r:id="Rb984fe3ae5104c80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45abf0a58204751" Type="http://schemas.openxmlformats.org/officeDocument/2006/relationships/presProps" Target="presProps.xml"/><Relationship Id="R405fa1eb45514324" Type="http://schemas.openxmlformats.org/officeDocument/2006/relationships/theme" Target="theme/theme1.xml"/><Relationship Id="R4dfa3758d050409a" Type="http://schemas.openxmlformats.org/officeDocument/2006/relationships/slide" Target="slides/slide3.xml"/><Relationship Id="R524afe59a16b40e8" Type="http://schemas.openxmlformats.org/officeDocument/2006/relationships/notesMaster" Target="notesMasters/notesMaster1.xml"/><Relationship Id="R5db59470c3d54f61" Type="http://schemas.openxmlformats.org/officeDocument/2006/relationships/slide" Target="slides/slide2.xml"/><Relationship Id="R5ed3de886bb34152" Type="http://schemas.openxmlformats.org/officeDocument/2006/relationships/slide" Target="slides/slide1.xml"/><Relationship Id="R880b4de87c6843fb" Type="http://schemas.openxmlformats.org/officeDocument/2006/relationships/tableStyles" Target="tableStyles.xml"/><Relationship Id="R8fbc03cbc61f41d6" Type="http://schemas.openxmlformats.org/officeDocument/2006/relationships/slide" Target="slides/slide6.xml"/><Relationship Id="Rb984fe3ae5104c80" Type="http://schemas.openxmlformats.org/officeDocument/2006/relationships/slide" Target="slides/slide7.xml"/><Relationship Id="Rc2c93b1ba6e74244" Type="http://schemas.openxmlformats.org/officeDocument/2006/relationships/slide" Target="slides/slide5.xml"/><Relationship Id="Rc98f274db9fb47ac" Type="http://schemas.openxmlformats.org/officeDocument/2006/relationships/slideMaster" Target="slideMasters/slideMaster1.xml"/><Relationship Id="Redbca0bcc6f34a09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95600debba35433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3b546cbbdc64142" Type="http://schemas.openxmlformats.org/officeDocument/2006/relationships/notesMaster" Target="../notesMasters/notesMaster1.xml"/><Relationship Id="Ra90fa6be28b04ca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50b15b7dc04c474b" Type="http://schemas.openxmlformats.org/officeDocument/2006/relationships/notesMaster" Target="../notesMasters/notesMaster1.xml"/><Relationship Id="Rc7f5672ca1534c2d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8737842945e4609" Type="http://schemas.openxmlformats.org/officeDocument/2006/relationships/notesMaster" Target="../notesMasters/notesMaster1.xml"/><Relationship Id="Ra69d2e3181e04176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48885d1832f43b7" Type="http://schemas.openxmlformats.org/officeDocument/2006/relationships/slide" Target="../slides/slide4.xml"/><Relationship Id="Rcaa0783447954183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93b8e3a096d849b6" Type="http://schemas.openxmlformats.org/officeDocument/2006/relationships/slide" Target="../slides/slide5.xml"/><Relationship Id="Rcba196c1058649da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f44bca8c1404399" Type="http://schemas.openxmlformats.org/officeDocument/2006/relationships/notesMaster" Target="../notesMasters/notesMaster1.xml"/><Relationship Id="Rd561b1de773e416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ab3c75ae25145db" Type="http://schemas.openxmlformats.org/officeDocument/2006/relationships/slide" Target="../slides/slide7.xml"/><Relationship Id="Rf6c603a0d94a4723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2e409d1937d4da4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48b1adc4aaec4e2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e39dc6d350e74189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83c4d59d53c54c14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be4cd9f671f4a6f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40af6cf82b1d4e4c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129077908bbf4656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54654b65eef943f4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e706215f4467465f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2ded34730836401f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e2e160608a7d4cc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6B19A2-DE9B-4365-BE5B-60DA44FA67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CC25589-33CB-44AB-886F-829CC9E847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BF7DBAE-9641-4FA3-B72F-7A84B1F6FC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16CB5C-F7AE-450C-87F2-4572A463D2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76A9BD9-5BEB-4CF8-8C50-316BC0249B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B044DD-8648-48FF-BE46-83B98FBC4B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DF17183-E214-49C4-93C0-84E0410545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1BD6DE-6D49-4071-BA7D-D2C8537258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697850-AA13-4456-AF1F-163B74C8D9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4219AC-34F2-4AAE-ADB6-3BF1B60BF4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6C52B5-68FA-4069-AC9B-DB6E82B649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29D980-4DF8-48A2-BDCC-2D517859BC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37D226-911F-4DD7-820E-0F0C33E7CE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F1146FA-9640-4993-B52F-CA05CC9AC0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227A7A-F242-470A-A960-A1001CCB3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9241A6-34A7-44BA-973C-F7D6B251F9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B75BF8F-B280-41C2-8C97-9A3395BEA6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AB0554D-5E71-4053-A232-EF07997886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3F85A9B-43CE-4F1F-AF84-AD168C6298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2C427A3-AA5D-4CB8-9D4C-12D1A9CEDF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BDEBBBE-7C1D-4231-9FC4-E845611F6E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8F70C9-D83B-448D-B062-F9C5EB9A0A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3D40B77-314E-480F-AB11-800E1F8AFB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437E9D-D06D-4AD2-B668-7BA34455CB7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0034F4F-B380-4A7F-82C2-FDA5D84E07B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F64D826-05E8-475C-BFB3-BF2A51CCC81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B00408D-CACB-4B45-91C4-C5A17F6898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1F23649-4A55-48E2-AE57-6A90548C8F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E10DE37-F443-453F-8389-330F7764DC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6A7E4E-0DA4-43A4-BDA9-6B4D82226D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3E84ACC-1D8A-47BA-8BFB-33D7109736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52D4EAE-EC58-40E4-9FB7-BD26D0A1C9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3D8B950-2E09-41EF-860D-EA878AC964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225CE24-4071-4BAD-8574-07DDF6E06E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47B4136-2F3F-4301-A500-4EF1C4C050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B89CB17-9FC2-47CF-9BCD-FC2EA424CB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EAADB0-7AFB-4B01-9A67-EC1E4EA80C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5EEAFD-4920-4502-9CCA-18BD19F8A4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5C043DB-4EBD-41B1-BBF5-C40FEDBAB5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F158F8A-0A50-4B03-8F0C-5CA680D284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166AEEE-CD51-479F-8EB0-D15E4264DB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92D15A2-94A3-41D9-8121-5F3B7DF7E0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12C8273-9C46-4478-8C35-83E21D195C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F067AFE-C57F-47D0-83EE-EF8DEF282F0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116B463-4D58-41CB-A0F9-A0E32A45D8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4BBD27A-E8A0-4B9F-9497-710A3EF7EB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B4D64A5-BC04-4EE4-83D8-A0B951D526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A83A67D-107D-4710-83F7-47715C6263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CF8ED3-B6AB-4A1D-89FF-6B902AD272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6752EA-3504-4613-BFC7-1FBA58B7A6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2E6354C-9C42-485E-8C60-664CDCFF75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93DD52-586C-45DF-A88E-E4743A6A04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922873-236C-4BA2-8418-06C5011AD9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809B389-7150-49AD-8EE1-AE7F8AC16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5C6D1C-96C3-44B0-A3C1-404EB2510F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77398CF-3EC9-4ADA-B102-8CE79F927E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B2D9AE-5AD1-4925-9DCA-6C4EF02497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428C51-CA5C-4749-91B1-FC4C57A40B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be749fdcf604eab" Type="http://schemas.openxmlformats.org/officeDocument/2006/relationships/slideLayout" Target="../slideLayouts/slideLayout6.xml"/><Relationship Id="R1cb943772e9b4a0a" Type="http://schemas.openxmlformats.org/officeDocument/2006/relationships/slideLayout" Target="../slideLayouts/slideLayout8.xml"/><Relationship Id="R1dda12fec6f84700" Type="http://schemas.openxmlformats.org/officeDocument/2006/relationships/slideLayout" Target="../slideLayouts/slideLayout1.xml"/><Relationship Id="R3094bf206ca44080" Type="http://schemas.openxmlformats.org/officeDocument/2006/relationships/slideLayout" Target="../slideLayouts/slideLayout7.xml"/><Relationship Id="R5609261dcae34aa2" Type="http://schemas.openxmlformats.org/officeDocument/2006/relationships/theme" Target="theme/theme2.xml"/><Relationship Id="R5cadcb419a6e4a05" Type="http://schemas.openxmlformats.org/officeDocument/2006/relationships/slideLayout" Target="../slideLayouts/slideLayout5.xml"/><Relationship Id="R6461111401a64194" Type="http://schemas.openxmlformats.org/officeDocument/2006/relationships/slideLayout" Target="../slideLayouts/slideLayout3.xml"/><Relationship Id="R673cc0f8ba3c42a2" Type="http://schemas.openxmlformats.org/officeDocument/2006/relationships/slideLayout" Target="../slideLayouts/slideLayout9.xml"/><Relationship Id="R6e2bc95011454eba" Type="http://schemas.openxmlformats.org/officeDocument/2006/relationships/slideLayout" Target="../slideLayouts/slideLayout2.xml"/><Relationship Id="R80ac3f27f2304ea2" Type="http://schemas.openxmlformats.org/officeDocument/2006/relationships/slideLayout" Target="../slideLayouts/slideLayout11.xml"/><Relationship Id="Rd000b4d9185c4fae" Type="http://schemas.openxmlformats.org/officeDocument/2006/relationships/slideLayout" Target="../slideLayouts/slideLayout10.xml"/><Relationship Id="Red4833c2c90d441f" Type="http://schemas.openxmlformats.org/officeDocument/2006/relationships/slideLayout" Target="../slideLayouts/slideLayout4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A3F08FB-A4DE-4753-ADF2-173EBDF8D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9F01C51-B0B0-46FD-A6C1-31667D036F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BE3C70-E9B4-42F8-A85A-D7C752B3A2B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6BD24D-770A-4ADF-A12E-48A9490ECBB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1B1D7F9-3644-4800-95D0-B2C9B40CF4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da12fec6f84700"/>
    <p:sldLayoutId xmlns:r="http://schemas.openxmlformats.org/officeDocument/2006/relationships" id="2147483650" r:id="R6e2bc95011454eba"/>
    <p:sldLayoutId xmlns:r="http://schemas.openxmlformats.org/officeDocument/2006/relationships" id="2147483651" r:id="R6461111401a64194"/>
    <p:sldLayoutId xmlns:r="http://schemas.openxmlformats.org/officeDocument/2006/relationships" id="2147483652" r:id="Red4833c2c90d441f"/>
    <p:sldLayoutId xmlns:r="http://schemas.openxmlformats.org/officeDocument/2006/relationships" id="2147483653" r:id="R5cadcb419a6e4a05"/>
    <p:sldLayoutId xmlns:r="http://schemas.openxmlformats.org/officeDocument/2006/relationships" id="2147483654" r:id="R1be749fdcf604eab"/>
    <p:sldLayoutId xmlns:r="http://schemas.openxmlformats.org/officeDocument/2006/relationships" id="2147483655" r:id="R3094bf206ca44080"/>
    <p:sldLayoutId xmlns:r="http://schemas.openxmlformats.org/officeDocument/2006/relationships" id="2147483656" r:id="R1cb943772e9b4a0a"/>
    <p:sldLayoutId xmlns:r="http://schemas.openxmlformats.org/officeDocument/2006/relationships" id="2147483657" r:id="R673cc0f8ba3c42a2"/>
    <p:sldLayoutId xmlns:r="http://schemas.openxmlformats.org/officeDocument/2006/relationships" id="2147483658" r:id="Rd000b4d9185c4fae"/>
    <p:sldLayoutId xmlns:r="http://schemas.openxmlformats.org/officeDocument/2006/relationships" id="2147483659" r:id="R80ac3f27f2304ea2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dc63850ba0c6478c" Type="http://schemas.openxmlformats.org/officeDocument/2006/relationships/notesSlide" Target="../notesSlides/notesSlide1.xml"/><Relationship Id="Re048765145294198" Type="http://schemas.openxmlformats.org/officeDocument/2006/relationships/image" Target="../media/image.jpeg"/><Relationship Id="Rf2e6f98767ca4854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5c27858d2a384d44" Type="http://schemas.openxmlformats.org/officeDocument/2006/relationships/image" Target="../media/image2.jpeg"/><Relationship Id="R7276e320af8d43bf" Type="http://schemas.openxmlformats.org/officeDocument/2006/relationships/notesSlide" Target="../notesSlides/notesSlide2.xml"/><Relationship Id="R862d85db24f84a3f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3e78944baab54cf8" Type="http://schemas.openxmlformats.org/officeDocument/2006/relationships/slideLayout" Target="../slideLayouts/slideLayout7.xml"/><Relationship Id="Rd161f2a78a164fb4" Type="http://schemas.openxmlformats.org/officeDocument/2006/relationships/notesSlide" Target="../notesSlides/notesSlide3.xml"/><Relationship Id="Rea64358bbb004d07" Type="http://schemas.openxmlformats.org/officeDocument/2006/relationships/image" Target="../media/image.jpeg"/></Relationships>
</file>

<file path=ppt/slides/_rels/slide4.xml.rels><?xml version='1.0' encoding='UTF-8' standalone='yes'?>
<Relationships xmlns="http://schemas.openxmlformats.org/package/2006/relationships"><Relationship Id="R1255e62367ed4859" Type="http://schemas.openxmlformats.org/officeDocument/2006/relationships/notesSlide" Target="../notesSlides/notesSlide4.xml"/><Relationship Id="R7a12f763730e4cf0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52cdfd7bd1df47ff" Type="http://schemas.openxmlformats.org/officeDocument/2006/relationships/slideLayout" Target="../slideLayouts/slideLayout7.xml"/><Relationship Id="R9e6dfc262a7b4c5b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b4e4e53737464171" Type="http://schemas.openxmlformats.org/officeDocument/2006/relationships/slideLayout" Target="../slideLayouts/slideLayout7.xml"/><Relationship Id="Rd243eecb9e75432f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17c7568b392f476e" Type="http://schemas.openxmlformats.org/officeDocument/2006/relationships/slideLayout" Target="../slideLayouts/slideLayout7.xml"/><Relationship Id="R2cb620e80c154e90" Type="http://schemas.openxmlformats.org/officeDocument/2006/relationships/notesSlide" Target="../notesSlides/notesSlide7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19C9DD-8AB0-4C35-9676-4E715BC6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60337B8-AA81-4709-B636-8556F5CF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746B1AB-3AE2-4C65-9935-ED4D73CD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600"/>
            <a:ext cx="7589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1">
                <a:solidFill>
                  <a:srgbClr val="C4DEDC"/>
                </a:solidFill>
                <a:latin typeface="Aptos"/>
                <a:ea typeface="Aptos"/>
                <a:cs typeface="Aptos"/>
              </a:rPr>
              <a:t>PROJECT REFRESH FOR GUOLIANG FENG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DE47364-D3C2-4A73-876A-40AA11AF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15568"/>
            <a:ext cx="6217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6233A"/>
                </a:solidFill>
                <a:latin typeface="Aptos Display"/>
                <a:ea typeface="Aptos Display"/>
                <a:cs typeface="Aptos Display"/>
              </a:rPr>
              <a:t>Weather-Aware Travel</a:t>
            </a:r>
          </a:p>
          <a:p xmlns:a="http://schemas.openxmlformats.org/drawingml/2006/main">
            <a:pPr algn="l">
              <a:buNone/>
            </a:pPr>
            <a:r>
              <a:rPr sz="2700" b="1">
                <a:solidFill>
                  <a:srgbClr val="16233A"/>
                </a:solidFill>
                <a:latin typeface="Aptos Display"/>
                <a:ea typeface="Aptos Display"/>
                <a:cs typeface="Aptos Display"/>
              </a:rPr>
              <a:t>Itinerary Optimization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E65C54-88E0-4D8E-86C8-70FFC125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21992"/>
            <a:ext cx="6126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50" b="0">
                <a:solidFill>
                  <a:srgbClr val="222A32"/>
                </a:solidFill>
                <a:latin typeface="Aptos"/>
                <a:ea typeface="Aptos"/>
                <a:cs typeface="Aptos"/>
              </a:rPr>
              <a:t>Inspectable, solver-backed planning for multi-day trips with weather, hotels, budgets, and traveler interests.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6D38773-1B96-4B96-8D01-82FB0565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170432"/>
            <a:ext cx="4480560" cy="3246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8765145294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600" y="1175511"/>
            <a:ext cx="4480560" cy="323596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9D97926-936D-4F94-82A3-77028740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907792"/>
            <a:ext cx="589788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6E069C4-406E-45A0-AD98-5308303B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09067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1D7874"/>
                </a:solidFill>
                <a:latin typeface="Aptos"/>
                <a:ea typeface="Aptos"/>
                <a:cs typeface="Aptos"/>
              </a:rPr>
              <a:t>MEETING GOAL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16CCE3E-1761-4ADB-A4B8-8D1A0DCA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364992"/>
            <a:ext cx="5349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60" b="0">
                <a:solidFill>
                  <a:srgbClr val="222A32"/>
                </a:solidFill>
                <a:latin typeface="Aptos"/>
                <a:ea typeface="Aptos"/>
                <a:cs typeface="Aptos"/>
              </a:rPr>
              <a:t>Refresh the current prototype, align on research framing, and choose the next concrete experiments.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47033DC-7FC5-41E4-9DC8-0BA8A6E6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24528"/>
            <a:ext cx="2779776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605FBA0-4F78-4509-B4FA-8CC54E91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805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1D7874"/>
                </a:solidFill>
                <a:latin typeface="Aptos Display"/>
                <a:ea typeface="Aptos Display"/>
                <a:cs typeface="Aptos Display"/>
              </a:rPr>
              <a:t>Refresh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4E3C3F9-83CC-4A57-9B5D-570F291B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55464"/>
            <a:ext cx="2331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0">
                <a:solidFill>
                  <a:srgbClr val="69737D"/>
                </a:solidFill>
                <a:latin typeface="Aptos"/>
                <a:ea typeface="Aptos"/>
                <a:cs typeface="Aptos"/>
              </a:rPr>
              <a:t>project background + progress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BD5BFC8-E16B-422A-9FE0-2A0E05FA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4224528"/>
            <a:ext cx="2779776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EF3CDF7-4ED9-4048-BBB1-7BE758EC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44805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C46A4A"/>
                </a:solidFill>
                <a:latin typeface="Aptos Display"/>
                <a:ea typeface="Aptos Display"/>
                <a:cs typeface="Aptos Display"/>
              </a:rPr>
              <a:t>Discuss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496FEDE-A0BE-4895-A8CE-A0187BF1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4855464"/>
            <a:ext cx="2331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0">
                <a:solidFill>
                  <a:srgbClr val="69737D"/>
                </a:solidFill>
                <a:latin typeface="Aptos"/>
                <a:ea typeface="Aptos"/>
                <a:cs typeface="Aptos"/>
              </a:rPr>
              <a:t>blockers + next steps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927B9AB-A85F-4C04-8285-F930B55F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37376"/>
            <a:ext cx="10287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69737D"/>
                </a:solidFill>
                <a:latin typeface="Aptos"/>
                <a:ea typeface="Aptos"/>
                <a:cs typeface="Aptos"/>
              </a:rPr>
              <a:t>Source: README.md; docs/assets/full_dashboard_preview.png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B10EB59-738C-4B58-A60A-F3E4B940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19088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>
                <a:solidFill>
                  <a:srgbClr val="69737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736699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5E91FF5-CB68-4EC1-B85D-2AFD5E49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8F7A450-54D0-4638-A921-23727E46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777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D7874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B1C93B4-B877-4D5D-B3E1-C093AA0C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06070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6233A"/>
                </a:solidFill>
                <a:latin typeface="Aptos Display"/>
                <a:ea typeface="Aptos Display"/>
                <a:cs typeface="Aptos Display"/>
              </a:rPr>
              <a:t>Recommendation becomes constrained planning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D807A07-3DFA-46A8-B931-B3856701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96012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87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5028E5D-5194-459E-8BC6-D1E9911D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17904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1D7874"/>
                </a:solidFill>
                <a:latin typeface="Aptos"/>
                <a:ea typeface="Aptos"/>
                <a:cs typeface="Aptos"/>
              </a:rPr>
              <a:t>CORE PROBLEM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ACB422E-FC85-4FCB-AA54-11564127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783080"/>
            <a:ext cx="379476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spcAft>
                <a:spcPts val="400"/>
              </a:spcAft>
              <a:buNone/>
              <a:defRPr sz="1260">
                <a:solidFill>
                  <a:srgbClr val="222A32"/>
                </a:solidFill>
                <a:latin typeface="Aptos"/>
                <a:ea typeface="Aptos"/>
                <a:cs typeface="Aptos"/>
              </a:defRPr>
            </a:pPr>
            <a:r>
              <a:t>A good trip is not just top-rated attractions; it must be feasible across days.</a:t>
            </a:r>
          </a:p>
          <a:p xmlns:a="http://schemas.openxmlformats.org/drawingml/2006/main">
            <a:pPr>
              <a:lnSpc>
                <a:spcPct val="103000"/>
              </a:lnSpc>
              <a:spcAft>
                <a:spcPts val="400"/>
              </a:spcAft>
              <a:buNone/>
              <a:defRPr sz="1260">
                <a:solidFill>
                  <a:srgbClr val="222A32"/>
                </a:solidFill>
                <a:latin typeface="Aptos"/>
                <a:ea typeface="Aptos"/>
                <a:cs typeface="Aptos"/>
              </a:defRPr>
            </a:pPr>
            <a:r>
              <a:t>The model jointly considers time, budget, travel, hotels/base cities, weather exposure, pace, and interests.</a:t>
            </a:r>
          </a:p>
          <a:p xmlns:a="http://schemas.openxmlformats.org/drawingml/2006/main">
            <a:pPr>
              <a:lnSpc>
                <a:spcPct val="103000"/>
              </a:lnSpc>
              <a:spcAft>
                <a:spcPts val="400"/>
              </a:spcAft>
              <a:buNone/>
              <a:defRPr sz="1260">
                <a:solidFill>
                  <a:srgbClr val="222A32"/>
                </a:solidFill>
                <a:latin typeface="Aptos"/>
                <a:ea typeface="Aptos"/>
                <a:cs typeface="Aptos"/>
              </a:defRPr>
            </a:pPr>
            <a:r>
              <a:t>The first course version proved the optimization framing; the current repo packages it as a reusable research prototype.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95E099E-3C54-46F2-A2F4-654A2A75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3367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C46A4A"/>
                </a:solidFill>
                <a:latin typeface="Aptos"/>
                <a:ea typeface="Aptos"/>
                <a:cs typeface="Aptos"/>
              </a:rPr>
              <a:t>WORKING PIPELINE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0E56E69-FE57-441B-918B-6C7660D1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736592"/>
            <a:ext cx="1572768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D78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1165533-3513-4F3D-826B-65BA2E67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55464"/>
            <a:ext cx="14264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222A32"/>
                </a:solidFill>
                <a:latin typeface="Aptos"/>
                <a:ea typeface="Aptos"/>
                <a:cs typeface="Aptos"/>
              </a:rPr>
              <a:t>Candidate + context data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7EFA46CC-DFD6-4DF0-8099-5A486A46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984" y="5001768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69737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CBCCDD8-F5EB-4C36-BE25-71BA2495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4" y="4736592"/>
            <a:ext cx="1572768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F67A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880E741-46DE-46B0-BBC2-BEE9751A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4855464"/>
            <a:ext cx="14264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222A32"/>
                </a:solidFill>
                <a:latin typeface="Aptos"/>
                <a:ea typeface="Aptos"/>
                <a:cs typeface="Aptos"/>
              </a:rPr>
              <a:t>Interest/weather utility</a:t>
            </a: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AF0CAD59-0E94-4F6A-91FC-DF1C1C44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5001768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69737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F3BB338-EAA1-40CC-BB1E-6A3AA327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4736592"/>
            <a:ext cx="1572768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8A13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EA74C73-EFE3-43FC-9E2C-3BF17C48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4855464"/>
            <a:ext cx="14264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222A32"/>
                </a:solidFill>
                <a:latin typeface="Aptos"/>
                <a:ea typeface="Aptos"/>
                <a:cs typeface="Aptos"/>
              </a:rPr>
              <a:t>Hierarchical + bandit search</a:t>
            </a: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249899B9-0D97-43C3-9766-5FC50D07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5001768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69737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FD62783-5C5D-4942-A81D-3BBE6BCC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4736592"/>
            <a:ext cx="1572768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46A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EAADBDC-9852-4024-9071-E2295F2C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4855464"/>
            <a:ext cx="14264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222A32"/>
                </a:solidFill>
                <a:latin typeface="Aptos"/>
                <a:ea typeface="Aptos"/>
                <a:cs typeface="Aptos"/>
              </a:rPr>
              <a:t>Small Gurobi repair</a:t>
            </a: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525EF617-D9E8-451A-B139-97C15C74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5001768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69737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A0928EC-8966-4916-95BB-CA544A20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4736592"/>
            <a:ext cx="1572768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568B5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CF78C7D-B32D-4F2D-AAEB-B47D96B9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4855464"/>
            <a:ext cx="14264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222A32"/>
                </a:solidFill>
                <a:latin typeface="Aptos"/>
                <a:ea typeface="Aptos"/>
                <a:cs typeface="Aptos"/>
              </a:rPr>
              <a:t>Dashboard evidence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D71BA46-B9F9-489F-BCDA-4DBCBEDC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44752"/>
            <a:ext cx="672084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7858d2a384d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7204" y="1444752"/>
            <a:ext cx="4259072" cy="2395728"/>
          </a:xfrm>
          <a:prstGeom xmlns:a="http://schemas.openxmlformats.org/drawingml/2006/main" prst="rect">
            <a:avLst/>
          </a:prstGeom>
        </p:spPr>
      </p:pic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286D1D9-0325-46AC-AD29-3B69B011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943350"/>
            <a:ext cx="6355080" cy="432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>
                <a:solidFill>
                  <a:srgbClr val="222A32"/>
                </a:solidFill>
                <a:latin typeface="Aptos"/>
                <a:ea typeface="Aptos"/>
                <a:cs typeface="Aptos"/>
              </a:rPr>
              <a:t>The dashboard is an evidence surface: saved routes, hotel context, interest previews, and evaluation/debug views.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316BD28-09A5-4465-B2B1-218D563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37376"/>
            <a:ext cx="10287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69737D"/>
                </a:solidFill>
                <a:latin typeface="Aptos"/>
                <a:ea typeface="Aptos"/>
                <a:cs typeface="Aptos"/>
              </a:rPr>
              <a:t>Sources: README.md; report/prof_xie_progress_report.tex; report/figures/production_route_map_screenshot.png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5A1DDEF-0E4E-4657-8351-7330A0BE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19088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>
                <a:solidFill>
                  <a:srgbClr val="6973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2462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8D9534-53D0-427B-89DF-DF01712D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75E6102-EC79-4826-BF45-986B6BA1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777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D7874"/>
                </a:solidFill>
                <a:latin typeface="Aptos"/>
                <a:ea typeface="Aptos"/>
                <a:cs typeface="Aptos"/>
              </a:rPr>
              <a:t>PROGRESS SNAPSHOT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CD6F460-2C72-4EE0-907C-BCCFFF79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06070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6233A"/>
                </a:solidFill>
                <a:latin typeface="Aptos Display"/>
                <a:ea typeface="Aptos Display"/>
                <a:cs typeface="Aptos Display"/>
              </a:rPr>
              <a:t>Working routes and inspection artifacts are exported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72E82CD-0847-4191-9721-FA7CA8C7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96012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87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B9B8B38-9B58-4A38-90BD-C6C01325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81328"/>
            <a:ext cx="1581912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D706481-6E84-4B2B-92A6-0F0DC872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81328"/>
            <a:ext cx="1581912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87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954FF60-FBB0-461E-84CF-B9D8CBB5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636776"/>
            <a:ext cx="13075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16233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F354819-A9B6-4FFB-9693-E78E7E1F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66544"/>
            <a:ext cx="1325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69737D"/>
                </a:solidFill>
                <a:latin typeface="Aptos"/>
                <a:ea typeface="Aptos"/>
                <a:cs typeface="Aptos"/>
              </a:rPr>
              <a:t>scenario families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92744B-A39C-4354-BA9F-EDBA5727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1481328"/>
            <a:ext cx="1581912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508284A-E32E-418F-B437-F70B73F9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1481328"/>
            <a:ext cx="1581912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7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D5D9D57-B660-434B-AF96-7BA63CFC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56" y="1636776"/>
            <a:ext cx="13075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16233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EA00B94-D611-4538-8DCA-6B3AD24F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56" y="2066544"/>
            <a:ext cx="1325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69737D"/>
                </a:solidFill>
                <a:latin typeface="Aptos"/>
                <a:ea typeface="Aptos"/>
                <a:cs typeface="Aptos"/>
              </a:rPr>
              <a:t>interest profiles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BA6A526-59C7-47E4-8788-53E15726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944" y="1481328"/>
            <a:ext cx="1581912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9E68966-2431-4513-9DB4-D8A62CD7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944" y="1481328"/>
            <a:ext cx="1581912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1F560D5-04E0-4938-87AB-AE227014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636776"/>
            <a:ext cx="13075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16233A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9EF0632-E762-4B03-B6BA-435E0A57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066544"/>
            <a:ext cx="1325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69737D"/>
                </a:solidFill>
                <a:latin typeface="Aptos"/>
                <a:ea typeface="Aptos"/>
                <a:cs typeface="Aptos"/>
              </a:rPr>
              <a:t>route records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44AA664-FBF0-4EFF-B4C1-B0AB9DF1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9192"/>
            <a:ext cx="1581912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2695EC3-B0DA-4BAE-A4CA-860B1834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9192"/>
            <a:ext cx="1581912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B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435C04F-9741-4458-A6EF-488DBA8D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834640"/>
            <a:ext cx="13075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16233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3196052-581F-4004-9810-CE1F0318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264408"/>
            <a:ext cx="1325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69737D"/>
                </a:solidFill>
                <a:latin typeface="Aptos"/>
                <a:ea typeface="Aptos"/>
                <a:cs typeface="Aptos"/>
              </a:rPr>
              <a:t>customer-visible options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85CF8DF-C216-496A-8C23-14B2A55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2679192"/>
            <a:ext cx="1581912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0B616F1-259E-49D9-A60C-66337580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2679192"/>
            <a:ext cx="1581912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3DA23AC-5D76-41E0-8CF1-5ADFC3B7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56" y="2834640"/>
            <a:ext cx="13075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16233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238323D-7AA9-4011-AF85-E2E3181E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56" y="3264408"/>
            <a:ext cx="1325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69737D"/>
                </a:solidFill>
                <a:latin typeface="Aptos"/>
                <a:ea typeface="Aptos"/>
                <a:cs typeface="Aptos"/>
              </a:rPr>
              <a:t>playable route layers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04CCC30-4BE4-4628-BB7A-DBBCD2FB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944" y="2679192"/>
            <a:ext cx="1581912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FDED8AE-B9AF-4239-A56C-A23D6AAA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944" y="2679192"/>
            <a:ext cx="1581912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87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F5173B4-924E-4A61-B044-6C2624C1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834640"/>
            <a:ext cx="13075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16233A"/>
                </a:solidFill>
                <a:latin typeface="Aptos"/>
                <a:ea typeface="Aptos"/>
                <a:cs typeface="Aptos"/>
              </a:rPr>
              <a:t>141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2DA0159-5FD4-4CE4-894A-0FF15264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264408"/>
            <a:ext cx="1325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69737D"/>
                </a:solidFill>
                <a:latin typeface="Aptos"/>
                <a:ea typeface="Aptos"/>
                <a:cs typeface="Aptos"/>
              </a:rPr>
              <a:t>dashboard/map artifacts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CB4EF6E-616B-4427-A4B9-33D4646F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444752"/>
            <a:ext cx="5349240" cy="3511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9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4358bbb004d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8490" y="1444752"/>
            <a:ext cx="4861794" cy="3511296"/>
          </a:xfrm>
          <a:prstGeom xmlns:a="http://schemas.openxmlformats.org/drawingml/2006/main" prst="rect">
            <a:avLst/>
          </a:prstGeom>
        </p:spPr>
      </p:pic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0CBECB9-2486-4427-8BF1-9C3F095A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87952"/>
            <a:ext cx="513892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4D57DE8-EE08-4750-B58C-7BDDF7AE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37083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C46A4A"/>
                </a:solidFill>
                <a:latin typeface="Aptos"/>
                <a:ea typeface="Aptos"/>
                <a:cs typeface="Aptos"/>
              </a:rPr>
              <a:t>DEFAULT DEMO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A5E4C39-D39A-4DE0-BA1D-F6CBA3A1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645152"/>
            <a:ext cx="4626864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0">
                <a:solidFill>
                  <a:srgbClr val="222A32"/>
                </a:solidFill>
                <a:latin typeface="Aptos"/>
                <a:ea typeface="Aptos"/>
                <a:cs typeface="Aptos"/>
              </a:rPr>
              <a:t>California Statewide Nature - nature_heavy - 7-day saved route using hierarchical bandit gurobi repair.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F4D0EE3-CAE0-4191-A268-8C923D15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138928"/>
            <a:ext cx="53492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AE843F55-8288-43D5-95D2-A0D84E0F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5330952"/>
            <a:ext cx="4892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80" b="0">
                <a:solidFill>
                  <a:srgbClr val="222A32"/>
                </a:solidFill>
                <a:latin typeface="Aptos"/>
                <a:ea typeface="Aptos"/>
                <a:cs typeface="Aptos"/>
              </a:rPr>
              <a:t>Trip lengths in dashboard: 7, 9, 12 days; research-only route records: 25.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3B335DFB-1CB1-41F1-BF9A-2FB1DCBE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37376"/>
            <a:ext cx="10287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69737D"/>
                </a:solidFill>
                <a:latin typeface="Aptos"/>
                <a:ea typeface="Aptos"/>
                <a:cs typeface="Aptos"/>
              </a:rPr>
              <a:t>Sources: results/outputs/*.csv; full_interactive_dashboard/assets/route_index.json; dashboard_metrics.json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FB17574E-0AD4-4952-AB79-29C5CF17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19088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>
                <a:solidFill>
                  <a:srgbClr val="69737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497152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8929325-C36E-4F60-95ED-1039EE52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832D01A-3552-4C35-B303-F76D147A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777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D7874"/>
                </a:solidFill>
                <a:latin typeface="Aptos"/>
                <a:ea typeface="Aptos"/>
                <a:cs typeface="Aptos"/>
              </a:rPr>
              <a:t>CURRENT DIRECTION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EF7D764-2F19-4C45-9997-E5E5F339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06070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300"/>
              </a:spcAft>
              <a:buNone/>
            </a:pPr>
            <a:r>
              <a:rPr sz="2500" b="1">
                <a:solidFill>
                  <a:srgbClr val="16233A"/>
                </a:solidFill>
                <a:latin typeface="Aptos Display"/>
              </a:rPr>
              <a:t>Research framing: a scoped repair claim we can test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921E9B9-0DEB-4A8E-8A4D-AF222C88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96012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87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C23EEF8-DCB6-45CB-B55E-AE01710D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44752"/>
            <a:ext cx="1097280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65BC94D-26E8-4D89-8DE1-41F2D05B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82496"/>
            <a:ext cx="10378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300"/>
              </a:spcAft>
              <a:buNone/>
            </a:pPr>
            <a:r>
              <a:rPr sz="1070" b="1">
                <a:solidFill>
                  <a:srgbClr val="16233A"/>
                </a:solidFill>
                <a:latin typeface="Aptos"/>
              </a:rPr>
              <a:t>Working claim to test: in frozen disruption scenarios, user-confirmed KEEP/REPLACE/MOVE/RELAX rules plus solver/evaluator evidence can preserve more original intent than full replanning while making each change inspectable.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FC45407-3AC2-4AE6-A14C-08656D7F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1627632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D78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D198062-DA1D-49B2-AF15-53BDFB4A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889503"/>
            <a:ext cx="14813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222A32"/>
                </a:solidFill>
                <a:latin typeface="Aptos"/>
                <a:ea typeface="Aptos"/>
                <a:cs typeface="Aptos"/>
              </a:rPr>
              <a:t>Frozen snapshots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8C9CCCB9-7231-490E-BA27-4209446D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035808"/>
            <a:ext cx="429768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69737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 xmlns:a="http://schemas.openxmlformats.org/drawingml/2006/main">
          <a:bodyPr/>
          <a:p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097B41B-184F-420F-B5C2-F75966DE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770632"/>
            <a:ext cx="1627632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F67A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E939320-9D25-4CEC-8F46-68636BCD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889503"/>
            <a:ext cx="14813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222A32"/>
                </a:solidFill>
                <a:latin typeface="Aptos"/>
                <a:ea typeface="Aptos"/>
                <a:cs typeface="Aptos"/>
              </a:rPr>
              <a:t>PlannerRun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26FB8035-90DD-4C74-901C-DB17D2A7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035808"/>
            <a:ext cx="429768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69737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 xmlns:a="http://schemas.openxmlformats.org/drawingml/2006/main">
          <a:bodyPr/>
          <a:p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529F70E-DE06-47A4-897A-110D8DB2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2770632"/>
            <a:ext cx="1627632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8A13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4124DFE-8348-4FF0-BF49-5BC81716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2889503"/>
            <a:ext cx="14813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222A32"/>
                </a:solidFill>
                <a:latin typeface="Aptos"/>
                <a:ea typeface="Aptos"/>
                <a:cs typeface="Aptos"/>
              </a:rPr>
              <a:t>PlanArtifact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2BF8A8EE-695B-4A13-BA49-6CB6739E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035808"/>
            <a:ext cx="429768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69737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 xmlns:a="http://schemas.openxmlformats.org/drawingml/2006/main">
          <a:bodyPr/>
          <a:p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F727D31-D9E2-484F-AB2C-DB45318A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3" y="2770632"/>
            <a:ext cx="1627632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46A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1DD03D3-C21C-4DD7-B5E9-093616CA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2889503"/>
            <a:ext cx="14813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222A32"/>
                </a:solidFill>
                <a:latin typeface="Aptos"/>
                <a:ea typeface="Aptos"/>
                <a:cs typeface="Aptos"/>
              </a:rPr>
              <a:t>EvaluationReport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5A80BEC7-436F-4F8F-BE6F-D9B788C4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5" y="3035808"/>
            <a:ext cx="429769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69737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 xmlns:a="http://schemas.openxmlformats.org/drawingml/2006/main">
          <a:bodyPr/>
          <a:p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BF1909B-7816-489B-A620-52967F47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2770632"/>
            <a:ext cx="1627632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568B5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B05DCB4-E0AA-4DCD-991B-46068E9E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889503"/>
            <a:ext cx="14813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222A32"/>
                </a:solidFill>
                <a:latin typeface="Aptos"/>
                <a:ea typeface="Aptos"/>
                <a:cs typeface="Aptos"/>
              </a:rPr>
              <a:t>ExplanationEvidence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333F639-0F92-4906-AE0F-47155B85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0"/>
            <a:ext cx="3310128" cy="1627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37BCCEE-1703-4B72-A111-1B2FCB6C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00507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1D7874"/>
                </a:solidFill>
                <a:latin typeface="Aptos"/>
                <a:ea typeface="Aptos"/>
                <a:cs typeface="Aptos"/>
              </a:rPr>
              <a:t>IMPLEMENTED BASE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9876190-6517-4D2C-93C7-FEBD9CF7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315968"/>
            <a:ext cx="288036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spcAft>
                <a:spcPts val="100"/>
              </a:spcAft>
              <a:buNone/>
              <a:defRPr sz="980">
                <a:solidFill>
                  <a:srgbClr val="222A32"/>
                </a:solidFill>
                <a:latin typeface="Aptos"/>
                <a:ea typeface="Aptos"/>
                <a:cs typeface="Aptos"/>
              </a:defRPr>
            </a:pPr>
            <a:r>
              <a:t>configurable multi-day scenarios</a:t>
            </a:r>
          </a:p>
          <a:p xmlns:a="http://schemas.openxmlformats.org/drawingml/2006/main">
            <a:pPr>
              <a:lnSpc>
                <a:spcPct val="103000"/>
              </a:lnSpc>
              <a:spcAft>
                <a:spcPts val="100"/>
              </a:spcAft>
              <a:buNone/>
              <a:defRPr sz="980">
                <a:solidFill>
                  <a:srgbClr val="222A32"/>
                </a:solidFill>
                <a:latin typeface="Aptos"/>
                <a:ea typeface="Aptos"/>
                <a:cs typeface="Aptos"/>
              </a:defRPr>
            </a:pPr>
            <a:r>
              <a:t>weather/nature scoring</a:t>
            </a:r>
          </a:p>
          <a:p xmlns:a="http://schemas.openxmlformats.org/drawingml/2006/main">
            <a:pPr>
              <a:lnSpc>
                <a:spcPct val="103000"/>
              </a:lnSpc>
              <a:spcAft>
                <a:spcPts val="100"/>
              </a:spcAft>
              <a:buNone/>
              <a:defRPr sz="980">
                <a:solidFill>
                  <a:srgbClr val="222A32"/>
                </a:solidFill>
                <a:latin typeface="Aptos"/>
                <a:ea typeface="Aptos"/>
                <a:cs typeface="Aptos"/>
              </a:defRPr>
            </a:pPr>
            <a:r>
              <a:t>hierarchical Gurobi + greedy + bandit repair paths</a:t>
            </a:r>
          </a:p>
          <a:p xmlns:a="http://schemas.openxmlformats.org/drawingml/2006/main">
            <a:pPr>
              <a:lnSpc>
                <a:spcPct val="103000"/>
              </a:lnSpc>
              <a:spcAft>
                <a:spcPts val="100"/>
              </a:spcAft>
              <a:buNone/>
              <a:defRPr sz="980">
                <a:solidFill>
                  <a:srgbClr val="222A32"/>
                </a:solidFill>
                <a:latin typeface="Aptos"/>
                <a:ea typeface="Aptos"/>
                <a:cs typeface="Aptos"/>
              </a:defRPr>
            </a:pPr>
            <a:r>
              <a:t>customer/research/evaluation dashboards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89A082F-6B15-486A-B43A-1EA0DC76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3840480"/>
            <a:ext cx="3310128" cy="1627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5AB1CA8-7AD0-4622-B8FB-A42C8505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00507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300"/>
              </a:spcAft>
              <a:buNone/>
            </a:pPr>
            <a:r>
              <a:rPr sz="850" b="1">
                <a:solidFill>
                  <a:srgbClr val="C46A4A"/>
                </a:solidFill>
                <a:latin typeface="Aptos"/>
              </a:rPr>
              <a:t>TESTABLE CONTRIBUTION TARGET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10E189E-84A1-41F8-8271-90B57153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4315968"/>
            <a:ext cx="288036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300"/>
              </a:spcAft>
              <a:buNone/>
              <a:defRPr sz="980">
                <a:solidFill>
                  <a:srgbClr val="222A32"/>
                </a:solidFill>
                <a:latin typeface="Aptos"/>
                <a:ea typeface="Aptos"/>
                <a:cs typeface="Aptos"/>
              </a:defRPr>
            </a:pPr>
            <a:r>
              <a:rPr sz="980" b="0">
                <a:solidFill>
                  <a:srgbClr val="222A32"/>
                </a:solidFill>
                <a:latin typeface="Aptos"/>
              </a:rPr>
              <a:t>minimal-change repair operations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300"/>
              </a:spcAft>
            </a:pPr>
            <a:r>
              <a:rPr sz="980" b="0">
                <a:solidFill>
                  <a:srgbClr val="222A32"/>
                </a:solidFill>
                <a:latin typeface="Aptos"/>
              </a:rPr>
              <a:t>intent preservation and edit-distance metrics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300"/>
              </a:spcAft>
            </a:pPr>
            <a:r>
              <a:rPr sz="980" b="0">
                <a:solidFill>
                  <a:srgbClr val="222A32"/>
                </a:solidFill>
                <a:latin typeface="Aptos"/>
              </a:rPr>
              <a:t>feasibility plus route-evidence gates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300"/>
              </a:spcAft>
            </a:pPr>
            <a:r>
              <a:rPr sz="980" b="0">
                <a:solidFill>
                  <a:srgbClr val="222A32"/>
                </a:solidFill>
                <a:latin typeface="Aptos"/>
              </a:rPr>
              <a:t>counterfactual repair explanations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4745B26-7A2A-41F3-9CC5-03CB9E22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1" y="3840480"/>
            <a:ext cx="3310128" cy="1627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0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A5AC96B-8A3A-44A2-AD33-BDF25EF2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1" y="400507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3F67A1"/>
                </a:solidFill>
                <a:latin typeface="Aptos"/>
                <a:ea typeface="Aptos"/>
                <a:cs typeface="Aptos"/>
              </a:rPr>
              <a:t>BOUNDARY TO KEEP CLEAR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1816CF8-855F-4857-B0B0-09887D18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15968"/>
            <a:ext cx="288036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spcAft>
                <a:spcPts val="100"/>
              </a:spcAft>
              <a:buNone/>
              <a:defRPr sz="980">
                <a:solidFill>
                  <a:srgbClr val="222A32"/>
                </a:solidFill>
                <a:latin typeface="Aptos"/>
                <a:ea typeface="Aptos"/>
                <a:cs typeface="Aptos"/>
              </a:defRPr>
            </a:pPr>
            <a:r>
              <a:t>LLM interprets and explains only</a:t>
            </a:r>
          </a:p>
          <a:p xmlns:a="http://schemas.openxmlformats.org/drawingml/2006/main">
            <a:pPr>
              <a:lnSpc>
                <a:spcPct val="103000"/>
              </a:lnSpc>
              <a:spcAft>
                <a:spcPts val="100"/>
              </a:spcAft>
              <a:buNone/>
              <a:defRPr sz="980">
                <a:solidFill>
                  <a:srgbClr val="222A32"/>
                </a:solidFill>
                <a:latin typeface="Aptos"/>
                <a:ea typeface="Aptos"/>
                <a:cs typeface="Aptos"/>
              </a:defRPr>
            </a:pPr>
            <a:r>
              <a:t>compiler maps confirmed intent to allowed fields</a:t>
            </a:r>
          </a:p>
          <a:p xmlns:a="http://schemas.openxmlformats.org/drawingml/2006/main">
            <a:pPr>
              <a:lnSpc>
                <a:spcPct val="103000"/>
              </a:lnSpc>
              <a:spcAft>
                <a:spcPts val="100"/>
              </a:spcAft>
              <a:buNone/>
              <a:defRPr sz="980">
                <a:solidFill>
                  <a:srgbClr val="222A32"/>
                </a:solidFill>
                <a:latin typeface="Aptos"/>
                <a:ea typeface="Aptos"/>
                <a:cs typeface="Aptos"/>
              </a:defRPr>
            </a:pPr>
            <a:r>
              <a:t>solver/evaluator own feasibility claims</a:t>
            </a:r>
          </a:p>
          <a:p xmlns:a="http://schemas.openxmlformats.org/drawingml/2006/main">
            <a:pPr>
              <a:lnSpc>
                <a:spcPct val="103000"/>
              </a:lnSpc>
              <a:spcAft>
                <a:spcPts val="100"/>
              </a:spcAft>
              <a:buNone/>
              <a:defRPr sz="980">
                <a:solidFill>
                  <a:srgbClr val="222A32"/>
                </a:solidFill>
                <a:latin typeface="Aptos"/>
                <a:ea typeface="Aptos"/>
                <a:cs typeface="Aptos"/>
              </a:defRPr>
            </a:pPr>
            <a:r>
              <a:t>no real-world guarantee beyond frozen model/data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DE18592-F09C-413A-A32C-AD8D2CA9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37376"/>
            <a:ext cx="10287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69737D"/>
                </a:solidFill>
                <a:latin typeface="Aptos"/>
                <a:ea typeface="Aptos"/>
                <a:cs typeface="Aptos"/>
              </a:rPr>
              <a:t>Sources: docs/research_question_and_phase0_execution.md; docs/limitation_driven_itinerary_repair_method.md; docs/novelty_claim_verification.md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FF640C9B-CFF8-4571-BABE-8FB167CA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19088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>
                <a:solidFill>
                  <a:srgbClr val="69737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191038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566928" y="283464"/>
            <a:ext cx="5852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LITERATURE + QUESTION</a:t>
            </a:r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566928" y="1106424"/>
            <a:ext cx="9601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450" b="1">
                <a:solidFill>
                  <a:srgbClr val="16233A"/>
                </a:solidFill>
                <a:latin typeface="Aptos"/>
              </a:defRPr>
            </a:pPr>
            <a:r>
              <a:t>The distinction: minimum verified repair, not multi-day revision</a:t>
            </a:r>
          </a:p>
        </p:txBody>
      </p:sp>
      <p:sp xmlns:a="http://schemas.openxmlformats.org/drawingml/2006/main">
        <p:nvSpPr>
          <p:cNvPr id="6" name="Rectangle 5"/>
          <p:cNvSpPr/>
          <p:nvPr/>
        </p:nvSpPr>
        <p:spPr>
          <a:xfrm>
            <a:off x="566928" y="1773936"/>
            <a:ext cx="960120" cy="41148"/>
          </a:xfrm>
          <a:prstGeom prst="rect">
            <a:avLst/>
          </a:prstGeom>
          <a:solidFill>
            <a:srgbClr val="1D7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594360" y="2121408"/>
            <a:ext cx="512064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Rectangle 7"/>
          <p:cNvSpPr/>
          <p:nvPr/>
        </p:nvSpPr>
        <p:spPr>
          <a:xfrm>
            <a:off x="594360" y="2121408"/>
            <a:ext cx="5120640" cy="73152"/>
          </a:xfrm>
          <a:prstGeom prst="rect">
            <a:avLst/>
          </a:prstGeom>
          <a:solidFill>
            <a:srgbClr val="1D7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822960" y="237744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16233A"/>
                </a:solidFill>
                <a:latin typeface="Aptos"/>
              </a:defRPr>
            </a:pPr>
            <a:r>
              <a:t>What nearby work already covers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859536" y="2743200"/>
            <a:ext cx="4553712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600"/>
              </a:spcAft>
            </a:pPr>
            <a:r>
              <a:rPr sz="1070" b="1">
                <a:solidFill>
                  <a:srgbClr val="16233A"/>
                </a:solidFill>
                <a:latin typeface="Aptos"/>
              </a:rPr>
              <a:t>TripTide: </a:t>
            </a:r>
            <a:r>
              <a:rPr sz="1070" b="0">
                <a:solidFill>
                  <a:srgbClr val="1F2937"/>
                </a:solidFill>
                <a:latin typeface="Aptos"/>
              </a:rPr>
              <a:t>AI revision after disruptions, including multi-day itinerary changes.</a:t>
            </a:r>
          </a:p>
          <a:p>
            <a:pPr>
              <a:spcAft>
                <a:spcPts val="600"/>
              </a:spcAft>
            </a:pPr>
            <a:r>
              <a:rPr sz="1070" b="1">
                <a:solidFill>
                  <a:srgbClr val="16233A"/>
                </a:solidFill>
                <a:latin typeface="Aptos"/>
              </a:rPr>
              <a:t>iTIMO: </a:t>
            </a:r>
            <a:r>
              <a:rPr sz="1070" b="0">
                <a:solidFill>
                  <a:srgbClr val="1F2937"/>
                </a:solidFill>
                <a:latin typeface="Aptos"/>
              </a:rPr>
              <a:t>ADD/DELETE/REPLACE-style modification data.</a:t>
            </a:r>
          </a:p>
          <a:p>
            <a:pPr>
              <a:spcAft>
                <a:spcPts val="600"/>
              </a:spcAft>
            </a:pPr>
            <a:r>
              <a:rPr sz="1070" b="1">
                <a:solidFill>
                  <a:srgbClr val="16233A"/>
                </a:solidFill>
                <a:latin typeface="Aptos"/>
              </a:rPr>
              <a:t>TTG / LLMAP / ITINERA: </a:t>
            </a:r>
            <a:r>
              <a:rPr sz="1070" b="0">
                <a:solidFill>
                  <a:srgbClr val="1F2937"/>
                </a:solidFill>
                <a:latin typeface="Aptos"/>
              </a:rPr>
              <a:t>LLM-assisted trip generation and planning.</a:t>
            </a:r>
          </a:p>
          <a:p>
            <a:pPr>
              <a:spcAft>
                <a:spcPts val="600"/>
              </a:spcAft>
            </a:pPr>
            <a:r>
              <a:rPr sz="1070" b="1">
                <a:solidFill>
                  <a:srgbClr val="16233A"/>
                </a:solidFill>
                <a:latin typeface="Aptos"/>
              </a:rPr>
              <a:t>TravelEval / TripScore / TRACE: </a:t>
            </a:r>
            <a:r>
              <a:rPr sz="1070" b="0">
                <a:solidFill>
                  <a:srgbClr val="1F2937"/>
                </a:solidFill>
                <a:latin typeface="Aptos"/>
              </a:rPr>
              <a:t>evaluation, grounding, and accountability neighbors.</a:t>
            </a:r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859536" y="4370832"/>
            <a:ext cx="4526280" cy="420624"/>
          </a:xfrm>
          <a:prstGeom prst="rect">
            <a:avLst/>
          </a:prstGeom>
          <a:solidFill>
            <a:srgbClr val="F7EBE6"/>
          </a:solidFill>
          <a:ln w="12700">
            <a:solidFill>
              <a:srgbClr val="ED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996696" y="4462272"/>
            <a:ext cx="42519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70" b="1">
                <a:solidFill>
                  <a:srgbClr val="C46A4A"/>
                </a:solidFill>
                <a:latin typeface="Aptos"/>
              </a:defRPr>
            </a:pPr>
            <a:r>
              <a:t>So the novelty is not "multi-day" or "AI revises a trip."</a:t>
            </a:r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6236208" y="2121408"/>
            <a:ext cx="530352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6236208" y="2121408"/>
            <a:ext cx="5303520" cy="73152"/>
          </a:xfrm>
          <a:prstGeom prst="rect">
            <a:avLst/>
          </a:prstGeom>
          <a:solidFill>
            <a:srgbClr val="C4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6473952" y="2377440"/>
            <a:ext cx="4800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16233A"/>
                </a:solidFill>
                <a:latin typeface="Aptos"/>
              </a:defRPr>
            </a:pPr>
            <a:r>
              <a:t>Plain-language research question</a:t>
            </a:r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6473952" y="2724912"/>
            <a:ext cx="4791456" cy="576072"/>
          </a:xfrm>
          <a:prstGeom prst="rect">
            <a:avLst/>
          </a:prstGeom>
          <a:solidFill>
            <a:srgbClr val="F3F5F4"/>
          </a:solidFill>
          <a:ln w="12700">
            <a:solidFill>
              <a:srgbClr val="DA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TextBox 16"/>
          <p:cNvSpPr txBox="1"/>
          <p:nvPr/>
        </p:nvSpPr>
        <p:spPr>
          <a:xfrm>
            <a:off x="6611112" y="2807208"/>
            <a:ext cx="4517136" cy="4297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r>
              <a:rPr sz="1150" b="1">
                <a:solidFill>
                  <a:srgbClr val="16233A"/>
                </a:solidFill>
                <a:latin typeface="Aptos"/>
              </a:rPr>
              <a:t>TripTide asks: </a:t>
            </a:r>
            <a:r>
              <a:rPr sz="1150" b="0">
                <a:solidFill>
                  <a:srgbClr val="1F2937"/>
                </a:solidFill>
                <a:latin typeface="Aptos"/>
              </a:rPr>
              <a:t>Can an AI revise a trip after a disruption?</a:t>
            </a:r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6473952" y="3438144"/>
            <a:ext cx="4791456" cy="832104"/>
          </a:xfrm>
          <a:prstGeom prst="rect">
            <a:avLst/>
          </a:prstGeom>
          <a:solidFill>
            <a:srgbClr val="E8F2EF"/>
          </a:solidFill>
          <a:ln w="12700">
            <a:solidFill>
              <a:srgbClr val="C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6611112" y="3520439"/>
            <a:ext cx="4517136" cy="685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r>
              <a:rPr sz="1150" b="1">
                <a:solidFill>
                  <a:srgbClr val="1D7874"/>
                </a:solidFill>
                <a:latin typeface="Aptos"/>
              </a:rPr>
              <a:t>This project asks: </a:t>
            </a:r>
            <a:r>
              <a:rPr sz="1150" b="0">
                <a:solidFill>
                  <a:srgbClr val="1F2937"/>
                </a:solidFill>
                <a:latin typeface="Aptos"/>
              </a:rPr>
              <a:t>Can the system make the smallest verified change while preserving what the traveler owns and values most?</a:t>
            </a:r>
          </a:p>
        </p:txBody>
      </p:sp>
      <p:sp xmlns:a="http://schemas.openxmlformats.org/drawingml/2006/main">
        <p:nvSpPr>
          <p:cNvPr id="20" name="TextBox 19"/>
          <p:cNvSpPr txBox="1"/>
          <p:nvPr/>
        </p:nvSpPr>
        <p:spPr>
          <a:xfrm>
            <a:off x="6473952" y="4407408"/>
            <a:ext cx="4791456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19" b="1">
                <a:solidFill>
                  <a:srgbClr val="16233A"/>
                </a:solidFill>
                <a:latin typeface="Aptos"/>
              </a:rPr>
              <a:t>Mechanism: </a:t>
            </a:r>
            <a:r>
              <a:rPr sz="1019" b="0">
                <a:solidFill>
                  <a:srgbClr val="556572"/>
                </a:solidFill>
                <a:latin typeface="Aptos"/>
              </a:rPr>
              <a:t>KEEP/MOVE/REPLACE/RELAX rules -&gt; solver repairs only necessary parts -&gt; evaluator certifies feasibility and explains why.</a:t>
            </a:r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594360" y="5321808"/>
            <a:ext cx="107533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594360" y="5321808"/>
            <a:ext cx="73152" cy="512064"/>
          </a:xfrm>
          <a:prstGeom prst="rect">
            <a:avLst/>
          </a:prstGeom>
          <a:solidFill>
            <a:srgbClr val="1D7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822960" y="5468112"/>
            <a:ext cx="10104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16233A"/>
                </a:solidFill>
                <a:latin typeface="Aptos"/>
              </a:rPr>
              <a:t>Defensible contribution: </a:t>
            </a:r>
            <a:r>
              <a:rPr sz="1200" b="0">
                <a:solidFill>
                  <a:srgbClr val="1F2937"/>
                </a:solidFill>
                <a:latin typeface="Aptos"/>
              </a:rPr>
              <a:t>repair-process visualization for user-owned minimum-change repair, backed by solver verification and evidence-backed explanations.</a:t>
            </a:r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475488" y="6446520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780" b="0">
                <a:solidFill>
                  <a:srgbClr val="556572"/>
                </a:solidFill>
                <a:latin typeface="Aptos"/>
              </a:defRPr>
            </a:pPr>
            <a:r>
              <a:t>Sources: Publication-Oriented Research and System Design Roadmap.pdf; Travel_Itinerary_Repair_Technical_Specification_for_Codex.md</a:t>
            </a:r>
          </a:p>
        </p:txBody>
      </p:sp>
      <p:sp xmlns:a="http://schemas.openxmlformats.org/drawingml/2006/main">
        <p:nvSpPr>
          <p:cNvPr id="25" name="TextBox 24"/>
          <p:cNvSpPr txBox="1"/>
          <p:nvPr/>
        </p:nvSpPr>
        <p:spPr>
          <a:xfrm>
            <a:off x="11155680" y="6428232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556572"/>
                </a:solidFill>
                <a:latin typeface="Aptos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380744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566928" y="283464"/>
            <a:ext cx="5852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200"/>
              </a:spcAft>
            </a:pPr>
            <a:r>
              <a:rPr sz="880" b="1">
                <a:solidFill>
                  <a:srgbClr val="C4DEDC"/>
                </a:solidFill>
                <a:latin typeface="Aptos"/>
              </a:rPr>
              <a:t>CORE MATH</a:t>
            </a:r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566928" y="106984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200"/>
              </a:spcAft>
            </a:pPr>
            <a:r>
              <a:rPr sz="2450" b="1">
                <a:solidFill>
                  <a:srgbClr val="16233A"/>
                </a:solidFill>
                <a:latin typeface="Aptos Display"/>
              </a:rPr>
              <a:t>The model repairs by solving objectives in priority order</a:t>
            </a:r>
          </a:p>
        </p:txBody>
      </p:sp>
      <p:sp xmlns:a="http://schemas.openxmlformats.org/drawingml/2006/main">
        <p:nvSpPr>
          <p:cNvPr id="6" name="Rectangle 5"/>
          <p:cNvSpPr/>
          <p:nvPr/>
        </p:nvSpPr>
        <p:spPr>
          <a:xfrm>
            <a:off x="566928" y="1664208"/>
            <a:ext cx="960120" cy="41148"/>
          </a:xfrm>
          <a:prstGeom prst="rect">
            <a:avLst/>
          </a:prstGeom>
          <a:solidFill>
            <a:srgbClr val="1D7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594360" y="1901952"/>
            <a:ext cx="6510528" cy="3822191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Rectangle 7"/>
          <p:cNvSpPr/>
          <p:nvPr/>
        </p:nvSpPr>
        <p:spPr>
          <a:xfrm>
            <a:off x="594360" y="1901952"/>
            <a:ext cx="6510528" cy="73152"/>
          </a:xfrm>
          <a:prstGeom prst="rect">
            <a:avLst/>
          </a:prstGeom>
          <a:solidFill>
            <a:srgbClr val="1D7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822960" y="2139696"/>
            <a:ext cx="5989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200"/>
              </a:spcAft>
            </a:pPr>
            <a:r>
              <a:rPr sz="1380" b="1">
                <a:solidFill>
                  <a:srgbClr val="16233A"/>
                </a:solidFill>
                <a:latin typeface="Aptos"/>
              </a:rPr>
              <a:t>Objective: choose a child plan pi, then compare plans in order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822960" y="5321808"/>
            <a:ext cx="5806440" cy="201168"/>
          </a:xfrm>
          <a:prstGeom prst="rect">
            <a:avLst/>
          </a:prstGeom>
          <a:noFill/>
        </p:spPr>
        <p:txBody>
          <a:bodyPr wrap="none" anchor="t" lIns="18288" rIns="18288" tIns="0" bIns="0">
            <a:spAutoFit/>
          </a:bodyPr>
          <a:lstStyle/>
          <a:p>
            <a:pPr>
              <a:defRPr sz="1050" b="0">
                <a:solidFill>
                  <a:srgbClr val="C46A4A"/>
                </a:solidFill>
                <a:latin typeface="Aptos"/>
              </a:defRPr>
            </a:pPr>
            <a:r>
              <a:t>Priority order: locks -&gt; smallest edit -&gt; risk/travel/cost -&gt; quality.</a:t>
            </a:r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7351775" y="1901952"/>
            <a:ext cx="4224528" cy="3822191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7351775" y="1901952"/>
            <a:ext cx="4224528" cy="73152"/>
          </a:xfrm>
          <a:prstGeom prst="rect">
            <a:avLst/>
          </a:prstGeom>
          <a:solidFill>
            <a:srgbClr val="C4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7589520" y="2139696"/>
            <a:ext cx="3657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200"/>
              </a:spcAft>
            </a:pPr>
            <a:r>
              <a:rPr sz="1380" b="1">
                <a:solidFill>
                  <a:srgbClr val="16233A"/>
                </a:solidFill>
                <a:latin typeface="Aptos"/>
              </a:rPr>
              <a:t>Main constraints</a:t>
            </a:r>
          </a:p>
        </p:txBody>
      </p:sp>
      <p:sp xmlns:a="http://schemas.openxmlformats.org/drawingml/2006/main">
        <p:nvSpPr>
          <p:cNvPr id="16" name="TextBox 15"/>
          <p:cNvSpPr txBox="1"/>
          <p:nvPr/>
        </p:nvSpPr>
        <p:spPr>
          <a:xfrm>
            <a:off x="7589520" y="5321808"/>
            <a:ext cx="3611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200"/>
              </a:spcAft>
            </a:pPr>
            <a:r>
              <a:rPr sz="930" b="1">
                <a:solidFill>
                  <a:srgbClr val="C46A4A"/>
                </a:solidFill>
                <a:latin typeface="Aptos"/>
              </a:rPr>
              <a:t>The evaluator recomputes these from the final artifact.</a:t>
            </a:r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594360" y="5925312"/>
            <a:ext cx="10735056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TextBox 17"/>
          <p:cNvSpPr txBox="1"/>
          <p:nvPr/>
        </p:nvSpPr>
        <p:spPr>
          <a:xfrm>
            <a:off x="841248" y="6016752"/>
            <a:ext cx="101955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6000"/>
              </a:lnSpc>
              <a:spcAft>
                <a:spcPts val="200"/>
              </a:spcAft>
            </a:pPr>
            <a:r>
              <a:rPr sz="1100" b="1">
                <a:solidFill>
                  <a:srgbClr val="16233A"/>
                </a:solidFill>
                <a:latin typeface="Aptos"/>
              </a:rPr>
              <a:t>Takeaway: preserve user-owned commitments first; optimize trip quality only after the minimum necessary repair is certified.</a:t>
            </a:r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475488" y="644652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200"/>
              </a:spcAft>
            </a:pPr>
            <a:r>
              <a:rPr sz="720" b="0">
                <a:solidFill>
                  <a:srgbClr val="69737D"/>
                </a:solidFill>
                <a:latin typeface="Aptos"/>
              </a:rPr>
              <a:t>Sources: Publication-Oriented Research and System Design Roadmap.pdf; Travel_Itinerary_Repair_Technical_Specification_for_Codex.md</a:t>
            </a:r>
          </a:p>
        </p:txBody>
      </p:sp>
      <p:sp xmlns:a="http://schemas.openxmlformats.org/drawingml/2006/main">
        <p:nvSpPr>
          <p:cNvPr id="20" name="TextBox 19"/>
          <p:cNvSpPr txBox="1"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96000"/>
              </a:lnSpc>
              <a:spcAft>
                <a:spcPts val="200"/>
              </a:spcAft>
            </a:pPr>
            <a:r>
              <a:rPr sz="800" b="0">
                <a:solidFill>
                  <a:srgbClr val="69737D"/>
                </a:solidFill>
                <a:latin typeface="Aptos"/>
              </a:rPr>
              <a:t>6</a:t>
            </a:r>
          </a:p>
        </p:txBody>
      </p:sp>
      <p:pic xmlns:a="http://schemas.openxmlformats.org/drawingml/2006/main" xmlns:r="http://schemas.openxmlformats.org/officeDocument/2006/relationships">
        <p:nvPicPr>
          <p:cNvPr id="21" name="Rendered Objective Equation" descr="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50592"/>
            <a:ext cx="5477256" cy="2752344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22" name="Rendered Constraints Equation" descr="constrai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2505456"/>
            <a:ext cx="3191256" cy="267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877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566928" y="283464"/>
            <a:ext cx="5852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NEXT STEP</a:t>
            </a:r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566928" y="1106424"/>
            <a:ext cx="99669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400" b="1">
                <a:solidFill>
                  <a:srgbClr val="16233A"/>
                </a:solidFill>
                <a:latin typeface="Aptos"/>
              </a:defRPr>
            </a:pPr>
            <a:r>
              <a:t>Make the repair process visible, not the solver process</a:t>
            </a:r>
          </a:p>
        </p:txBody>
      </p:sp>
      <p:sp xmlns:a="http://schemas.openxmlformats.org/drawingml/2006/main">
        <p:nvSpPr>
          <p:cNvPr id="6" name="Rectangle 5"/>
          <p:cNvSpPr/>
          <p:nvPr/>
        </p:nvSpPr>
        <p:spPr>
          <a:xfrm>
            <a:off x="566928" y="1737360"/>
            <a:ext cx="960120" cy="41148"/>
          </a:xfrm>
          <a:prstGeom prst="rect">
            <a:avLst/>
          </a:prstGeom>
          <a:solidFill>
            <a:srgbClr val="1D7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566928" y="1975104"/>
            <a:ext cx="1554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685800" y="2084832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50" b="1">
                <a:solidFill>
                  <a:srgbClr val="1D7874"/>
                </a:solidFill>
                <a:latin typeface="Aptos"/>
              </a:defRPr>
            </a:pPr>
            <a:r>
              <a:t>01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685800" y="2295144"/>
            <a:ext cx="131673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Aptos"/>
              </a:defRPr>
            </a:pPr>
            <a:r>
              <a:t>Original plan</a:t>
            </a:r>
          </a:p>
        </p:txBody>
      </p:sp>
      <p:sp xmlns:a="http://schemas.openxmlformats.org/drawingml/2006/main">
        <p:nvSpPr>
          <p:cNvPr id="10" name="Right Arrow 9"/>
          <p:cNvSpPr/>
          <p:nvPr/>
        </p:nvSpPr>
        <p:spPr>
          <a:xfrm>
            <a:off x="2167127" y="2267712"/>
            <a:ext cx="201168" cy="201168"/>
          </a:xfrm>
          <a:prstGeom prst="rightArrow">
            <a:avLst/>
          </a:prstGeom>
          <a:solidFill>
            <a:srgbClr val="9AA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2441448" y="1975104"/>
            <a:ext cx="1554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2560320" y="2084832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50" b="1">
                <a:solidFill>
                  <a:srgbClr val="1D7874"/>
                </a:solidFill>
                <a:latin typeface="Aptos"/>
              </a:defRPr>
            </a:pPr>
            <a:r>
              <a:t>02</a:t>
            </a:r>
          </a:p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2560320" y="2295144"/>
            <a:ext cx="131673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Aptos"/>
              </a:defRPr>
            </a:pPr>
            <a:r>
              <a:t>Disruption appears</a:t>
            </a:r>
          </a:p>
        </p:txBody>
      </p:sp>
      <p:sp xmlns:a="http://schemas.openxmlformats.org/drawingml/2006/main">
        <p:nvSpPr>
          <p:cNvPr id="14" name="Right Arrow 13"/>
          <p:cNvSpPr/>
          <p:nvPr/>
        </p:nvSpPr>
        <p:spPr>
          <a:xfrm>
            <a:off x="4041648" y="2267712"/>
            <a:ext cx="201168" cy="201168"/>
          </a:xfrm>
          <a:prstGeom prst="rightArrow">
            <a:avLst/>
          </a:prstGeom>
          <a:solidFill>
            <a:srgbClr val="9AA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4315968" y="1975104"/>
            <a:ext cx="1554480" cy="786384"/>
          </a:xfrm>
          <a:prstGeom prst="rect">
            <a:avLst/>
          </a:prstGeom>
          <a:solidFill>
            <a:srgbClr val="E8F2EF"/>
          </a:solidFill>
          <a:ln w="12700">
            <a:solidFill>
              <a:srgbClr val="C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TextBox 15"/>
          <p:cNvSpPr txBox="1"/>
          <p:nvPr/>
        </p:nvSpPr>
        <p:spPr>
          <a:xfrm>
            <a:off x="4434840" y="2084832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50" b="1">
                <a:solidFill>
                  <a:srgbClr val="1D7874"/>
                </a:solidFill>
                <a:latin typeface="Aptos"/>
              </a:defRPr>
            </a:pPr>
            <a:r>
              <a:t>03</a:t>
            </a:r>
          </a:p>
        </p:txBody>
      </p:sp>
      <p:sp xmlns:a="http://schemas.openxmlformats.org/drawingml/2006/main">
        <p:nvSpPr>
          <p:cNvPr id="17" name="TextBox 16"/>
          <p:cNvSpPr txBox="1"/>
          <p:nvPr/>
        </p:nvSpPr>
        <p:spPr>
          <a:xfrm>
            <a:off x="4434840" y="2295144"/>
            <a:ext cx="131673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Aptos"/>
              </a:defRPr>
            </a:pPr>
            <a:r>
              <a:t>Affected days highlighted</a:t>
            </a:r>
          </a:p>
        </p:txBody>
      </p:sp>
      <p:sp xmlns:a="http://schemas.openxmlformats.org/drawingml/2006/main">
        <p:nvSpPr>
          <p:cNvPr id="18" name="Right Arrow 17"/>
          <p:cNvSpPr/>
          <p:nvPr/>
        </p:nvSpPr>
        <p:spPr>
          <a:xfrm>
            <a:off x="5916168" y="2267712"/>
            <a:ext cx="201168" cy="201168"/>
          </a:xfrm>
          <a:prstGeom prst="rightArrow">
            <a:avLst/>
          </a:prstGeom>
          <a:solidFill>
            <a:srgbClr val="1D7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6190488" y="1975104"/>
            <a:ext cx="1554480" cy="786384"/>
          </a:xfrm>
          <a:prstGeom prst="rect">
            <a:avLst/>
          </a:prstGeom>
          <a:solidFill>
            <a:srgbClr val="E8F2EF"/>
          </a:solidFill>
          <a:ln w="12700">
            <a:solidFill>
              <a:srgbClr val="C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TextBox 19"/>
          <p:cNvSpPr txBox="1"/>
          <p:nvPr/>
        </p:nvSpPr>
        <p:spPr>
          <a:xfrm>
            <a:off x="6309359" y="2084832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50" b="1">
                <a:solidFill>
                  <a:srgbClr val="1D7874"/>
                </a:solidFill>
                <a:latin typeface="Aptos"/>
              </a:defRPr>
            </a:pPr>
            <a:r>
              <a:t>04</a:t>
            </a:r>
          </a:p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6309359" y="2295144"/>
            <a:ext cx="131673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Aptos"/>
              </a:defRPr>
            </a:pPr>
            <a:r>
              <a:t>Smallest repair proposed</a:t>
            </a:r>
          </a:p>
        </p:txBody>
      </p:sp>
      <p:sp xmlns:a="http://schemas.openxmlformats.org/drawingml/2006/main">
        <p:nvSpPr>
          <p:cNvPr id="22" name="Right Arrow 21"/>
          <p:cNvSpPr/>
          <p:nvPr/>
        </p:nvSpPr>
        <p:spPr>
          <a:xfrm>
            <a:off x="7790688" y="2267712"/>
            <a:ext cx="201168" cy="201168"/>
          </a:xfrm>
          <a:prstGeom prst="rightArrow">
            <a:avLst/>
          </a:prstGeom>
          <a:solidFill>
            <a:srgbClr val="1D7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8065007" y="1975104"/>
            <a:ext cx="1554480" cy="786384"/>
          </a:xfrm>
          <a:prstGeom prst="rect">
            <a:avLst/>
          </a:prstGeom>
          <a:solidFill>
            <a:srgbClr val="E8F2EF"/>
          </a:solidFill>
          <a:ln w="12700">
            <a:solidFill>
              <a:srgbClr val="C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8183879" y="2084832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50" b="1">
                <a:solidFill>
                  <a:srgbClr val="1D7874"/>
                </a:solidFill>
                <a:latin typeface="Aptos"/>
              </a:defRPr>
            </a:pPr>
            <a:r>
              <a:t>05</a:t>
            </a:r>
          </a:p>
        </p:txBody>
      </p:sp>
      <p:sp xmlns:a="http://schemas.openxmlformats.org/drawingml/2006/main">
        <p:nvSpPr>
          <p:cNvPr id="25" name="TextBox 24"/>
          <p:cNvSpPr txBox="1"/>
          <p:nvPr/>
        </p:nvSpPr>
        <p:spPr>
          <a:xfrm>
            <a:off x="8183879" y="2295144"/>
            <a:ext cx="131673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Aptos"/>
              </a:defRPr>
            </a:pPr>
            <a:r>
              <a:t>Before/after differences</a:t>
            </a:r>
          </a:p>
        </p:txBody>
      </p:sp>
      <p:sp xmlns:a="http://schemas.openxmlformats.org/drawingml/2006/main">
        <p:nvSpPr>
          <p:cNvPr id="26" name="Right Arrow 25"/>
          <p:cNvSpPr/>
          <p:nvPr/>
        </p:nvSpPr>
        <p:spPr>
          <a:xfrm>
            <a:off x="9665207" y="2267712"/>
            <a:ext cx="201168" cy="201168"/>
          </a:xfrm>
          <a:prstGeom prst="rightArrow">
            <a:avLst/>
          </a:prstGeom>
          <a:solidFill>
            <a:srgbClr val="9AA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9939528" y="1975104"/>
            <a:ext cx="1554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10058400" y="2084832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50" b="1">
                <a:solidFill>
                  <a:srgbClr val="1D7874"/>
                </a:solidFill>
                <a:latin typeface="Aptos"/>
              </a:defRPr>
            </a:pPr>
            <a:r>
              <a:t>06</a:t>
            </a:r>
          </a:p>
        </p:txBody>
      </p:sp>
      <p:sp xmlns:a="http://schemas.openxmlformats.org/drawingml/2006/main">
        <p:nvSpPr>
          <p:cNvPr id="29" name="TextBox 28"/>
          <p:cNvSpPr txBox="1"/>
          <p:nvPr/>
        </p:nvSpPr>
        <p:spPr>
          <a:xfrm>
            <a:off x="10058400" y="2295144"/>
            <a:ext cx="131673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Aptos"/>
              </a:defRPr>
            </a:pPr>
            <a:r>
              <a:t>Accept or adjust</a:t>
            </a:r>
          </a:p>
        </p:txBody>
      </p:sp>
      <p:sp xmlns:a="http://schemas.openxmlformats.org/drawingml/2006/main">
        <p:nvSpPr>
          <p:cNvPr id="30" name="TextBox 29"/>
          <p:cNvSpPr txBox="1"/>
          <p:nvPr/>
        </p:nvSpPr>
        <p:spPr>
          <a:xfrm>
            <a:off x="566928" y="3090672"/>
            <a:ext cx="4114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16233A"/>
                </a:solidFill>
                <a:latin typeface="Aptos"/>
              </a:defRPr>
            </a:pPr>
            <a:r>
              <a:t>What the interface should explain</a:t>
            </a:r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566928" y="3438144"/>
            <a:ext cx="2651760" cy="1033271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566928" y="3438144"/>
            <a:ext cx="64008" cy="1033271"/>
          </a:xfrm>
          <a:prstGeom prst="rect">
            <a:avLst/>
          </a:prstGeom>
          <a:solidFill>
            <a:srgbClr val="1D7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TextBox 32"/>
          <p:cNvSpPr txBox="1"/>
          <p:nvPr/>
        </p:nvSpPr>
        <p:spPr>
          <a:xfrm>
            <a:off x="731520" y="3557015"/>
            <a:ext cx="23591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20" b="1">
                <a:solidFill>
                  <a:srgbClr val="16233A"/>
                </a:solidFill>
                <a:latin typeface="Aptos"/>
              </a:defRPr>
            </a:pPr>
            <a:r>
              <a:t>Preserved intent</a:t>
            </a:r>
          </a:p>
        </p:txBody>
      </p:sp>
      <p:sp xmlns:a="http://schemas.openxmlformats.org/drawingml/2006/main">
        <p:nvSpPr>
          <p:cNvPr id="34" name="TextBox 33"/>
          <p:cNvSpPr txBox="1"/>
          <p:nvPr/>
        </p:nvSpPr>
        <p:spPr>
          <a:xfrm>
            <a:off x="731520" y="3840480"/>
            <a:ext cx="2359152" cy="5303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60" b="0">
                <a:solidFill>
                  <a:srgbClr val="556572"/>
                </a:solidFill>
                <a:latin typeface="Aptos"/>
              </a:defRPr>
            </a:pPr>
            <a:r>
              <a:t>Which days, bookings, routes, or activities stayed locked.</a:t>
            </a:r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3438144" y="3438144"/>
            <a:ext cx="2651760" cy="1033271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3438144" y="3438144"/>
            <a:ext cx="64008" cy="1033271"/>
          </a:xfrm>
          <a:prstGeom prst="rect">
            <a:avLst/>
          </a:prstGeom>
          <a:solidFill>
            <a:srgbClr val="C4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3602736" y="3557015"/>
            <a:ext cx="23591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20" b="1">
                <a:solidFill>
                  <a:srgbClr val="16233A"/>
                </a:solidFill>
                <a:latin typeface="Aptos"/>
              </a:defRPr>
            </a:pPr>
            <a:r>
              <a:t>Necessary changes</a:t>
            </a:r>
          </a:p>
        </p:txBody>
      </p:sp>
      <p:sp xmlns:a="http://schemas.openxmlformats.org/drawingml/2006/main">
        <p:nvSpPr>
          <p:cNvPr id="38" name="TextBox 37"/>
          <p:cNvSpPr txBox="1"/>
          <p:nvPr/>
        </p:nvSpPr>
        <p:spPr>
          <a:xfrm>
            <a:off x="3602736" y="3840480"/>
            <a:ext cx="2359152" cy="5303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60" b="0">
                <a:solidFill>
                  <a:srgbClr val="556572"/>
                </a:solidFill>
                <a:latin typeface="Aptos"/>
              </a:defRPr>
            </a:pPr>
            <a:r>
              <a:t>What moved, changed, or relaxed, with a reason for each edit.</a:t>
            </a:r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6309360" y="3438144"/>
            <a:ext cx="2651760" cy="1033271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6309360" y="3438144"/>
            <a:ext cx="64008" cy="1033271"/>
          </a:xfrm>
          <a:prstGeom prst="rect">
            <a:avLst/>
          </a:prstGeom>
          <a:solidFill>
            <a:srgbClr val="1D7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TextBox 40"/>
          <p:cNvSpPr txBox="1"/>
          <p:nvPr/>
        </p:nvSpPr>
        <p:spPr>
          <a:xfrm>
            <a:off x="6473952" y="3557015"/>
            <a:ext cx="23591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20" b="1">
                <a:solidFill>
                  <a:srgbClr val="16233A"/>
                </a:solidFill>
                <a:latin typeface="Aptos"/>
              </a:defRPr>
            </a:pPr>
            <a:r>
              <a:t>Repair size</a:t>
            </a:r>
          </a:p>
        </p:txBody>
      </p:sp>
      <p:sp xmlns:a="http://schemas.openxmlformats.org/drawingml/2006/main">
        <p:nvSpPr>
          <p:cNvPr id="42" name="TextBox 41"/>
          <p:cNvSpPr txBox="1"/>
          <p:nvPr/>
        </p:nvSpPr>
        <p:spPr>
          <a:xfrm>
            <a:off x="6473952" y="3840480"/>
            <a:ext cx="2359152" cy="5303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60" b="0">
                <a:solidFill>
                  <a:srgbClr val="556572"/>
                </a:solidFill>
                <a:latin typeface="Aptos"/>
              </a:defRPr>
            </a:pPr>
            <a:r>
              <a:t>Days touched, edit count, intent retained, and disruption radius.</a:t>
            </a:r>
          </a:p>
        </p:txBody>
      </p:sp>
      <p:sp xmlns:a="http://schemas.openxmlformats.org/drawingml/2006/main">
        <p:nvSpPr>
          <p:cNvPr id="43" name="Rectangle 42"/>
          <p:cNvSpPr/>
          <p:nvPr/>
        </p:nvSpPr>
        <p:spPr>
          <a:xfrm>
            <a:off x="9180576" y="3438144"/>
            <a:ext cx="2651760" cy="1033271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Rectangle 43"/>
          <p:cNvSpPr/>
          <p:nvPr/>
        </p:nvSpPr>
        <p:spPr>
          <a:xfrm>
            <a:off x="9180576" y="3438144"/>
            <a:ext cx="64008" cy="1033271"/>
          </a:xfrm>
          <a:prstGeom prst="rect">
            <a:avLst/>
          </a:prstGeom>
          <a:solidFill>
            <a:srgbClr val="C4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5" name="TextBox 44"/>
          <p:cNvSpPr txBox="1"/>
          <p:nvPr/>
        </p:nvSpPr>
        <p:spPr>
          <a:xfrm>
            <a:off x="9345167" y="3557015"/>
            <a:ext cx="23591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20" b="1">
                <a:solidFill>
                  <a:srgbClr val="16233A"/>
                </a:solidFill>
                <a:latin typeface="Aptos"/>
              </a:defRPr>
            </a:pPr>
            <a:r>
              <a:t>Tradeoffs + checks</a:t>
            </a:r>
          </a:p>
        </p:txBody>
      </p:sp>
      <p:sp xmlns:a="http://schemas.openxmlformats.org/drawingml/2006/main">
        <p:nvSpPr>
          <p:cNvPr id="46" name="TextBox 45"/>
          <p:cNvSpPr txBox="1"/>
          <p:nvPr/>
        </p:nvSpPr>
        <p:spPr>
          <a:xfrm>
            <a:off x="9345167" y="3840480"/>
            <a:ext cx="2359152" cy="5303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60" b="0">
                <a:solidFill>
                  <a:srgbClr val="556572"/>
                </a:solidFill>
                <a:latin typeface="Aptos"/>
              </a:defRPr>
            </a:pPr>
            <a:r>
              <a:t>Risk, travel, cost, utility deltas, plus solver and evaluator pass/fail.</a:t>
            </a:r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566928" y="4773168"/>
            <a:ext cx="1117396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566928" y="4773168"/>
            <a:ext cx="73152" cy="749808"/>
          </a:xfrm>
          <a:prstGeom prst="rect">
            <a:avLst/>
          </a:prstGeom>
          <a:solidFill>
            <a:srgbClr val="C4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9" name="TextBox 48"/>
          <p:cNvSpPr txBox="1"/>
          <p:nvPr/>
        </p:nvSpPr>
        <p:spPr>
          <a:xfrm>
            <a:off x="804672" y="4901184"/>
            <a:ext cx="106070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60" b="1">
                <a:solidFill>
                  <a:srgbClr val="16233A"/>
                </a:solidFill>
                <a:latin typeface="Aptos"/>
              </a:rPr>
              <a:t>Optimizer evidence, behind the interface: </a:t>
            </a:r>
            <a:r>
              <a:rPr sz="1160" b="0">
                <a:solidFill>
                  <a:srgbClr val="1F2937"/>
                </a:solidFill>
                <a:latin typeface="Aptos"/>
              </a:rPr>
              <a:t>Day 4 only was infeasible -&gt; expanded to Days 3-5 -&gt; verified feasible plan.</a:t>
            </a:r>
          </a:p>
        </p:txBody>
      </p:sp>
      <p:sp xmlns:a="http://schemas.openxmlformats.org/drawingml/2006/main">
        <p:nvSpPr>
          <p:cNvPr id="50" name="TextBox 49"/>
          <p:cNvSpPr txBox="1"/>
          <p:nvPr/>
        </p:nvSpPr>
        <p:spPr>
          <a:xfrm>
            <a:off x="804672" y="519379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50" b="1">
                <a:solidFill>
                  <a:srgbClr val="16233A"/>
                </a:solidFill>
                <a:latin typeface="Aptos"/>
              </a:rPr>
              <a:t>Research contribution: </a:t>
            </a:r>
            <a:r>
              <a:rPr sz="1050" b="0">
                <a:solidFill>
                  <a:srgbClr val="556572"/>
                </a:solidFill>
                <a:latin typeface="Aptos"/>
              </a:rPr>
              <a:t>visualizing user-owned repair decisions while solver reasoning provides trust and auditability.</a:t>
            </a:r>
          </a:p>
        </p:txBody>
      </p:sp>
      <p:sp xmlns:a="http://schemas.openxmlformats.org/drawingml/2006/main">
        <p:nvSpPr>
          <p:cNvPr id="51" name="Rectangle 50"/>
          <p:cNvSpPr/>
          <p:nvPr/>
        </p:nvSpPr>
        <p:spPr>
          <a:xfrm>
            <a:off x="566928" y="5715000"/>
            <a:ext cx="11173968" cy="347472"/>
          </a:xfrm>
          <a:prstGeom prst="rect">
            <a:avLst/>
          </a:prstGeom>
          <a:solidFill>
            <a:srgbClr val="F3F5F4"/>
          </a:solidFill>
          <a:ln w="12700">
            <a:solidFill>
              <a:srgbClr val="DA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TextBox 51"/>
          <p:cNvSpPr txBox="1"/>
          <p:nvPr/>
        </p:nvSpPr>
        <p:spPr>
          <a:xfrm>
            <a:off x="804672" y="5797296"/>
            <a:ext cx="10652760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70" b="1">
                <a:solidFill>
                  <a:srgbClr val="16233A"/>
                </a:solidFill>
                <a:latin typeface="Aptos"/>
              </a:defRPr>
            </a:pPr>
            <a:r>
              <a:t>Discussion ask: choose the first repair-process screen and the validation evidence it must show.</a:t>
            </a:r>
          </a:p>
        </p:txBody>
      </p:sp>
      <p:sp xmlns:a="http://schemas.openxmlformats.org/drawingml/2006/main">
        <p:nvSpPr>
          <p:cNvPr id="53" name="TextBox 52"/>
          <p:cNvSpPr txBox="1"/>
          <p:nvPr/>
        </p:nvSpPr>
        <p:spPr>
          <a:xfrm>
            <a:off x="475488" y="6446520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780" b="0">
                <a:solidFill>
                  <a:srgbClr val="556572"/>
                </a:solidFill>
                <a:latin typeface="Aptos"/>
              </a:defRPr>
            </a:pPr>
            <a:r>
              <a:t>Sources: repair-planner prototype; Travel_Itinerary_Repair_Technical_Specification_for_Codex.md; discussion framing</a:t>
            </a:r>
          </a:p>
        </p:txBody>
      </p:sp>
      <p:sp xmlns:a="http://schemas.openxmlformats.org/drawingml/2006/main">
        <p:nvSpPr>
          <p:cNvPr id="54" name="TextBox 53"/>
          <p:cNvSpPr txBox="1"/>
          <p:nvPr/>
        </p:nvSpPr>
        <p:spPr>
          <a:xfrm>
            <a:off x="11155680" y="6428232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556572"/>
                </a:solidFill>
                <a:latin typeface="Aptos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67273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2026-07-02T16:33:17.0030000Z</dcterms:created>
  <dcterms:modified xsi:type="dcterms:W3CDTF">2026-07-02T16:33:17.0030000Z</dcterms:modified>
</coreProperties>
</file>